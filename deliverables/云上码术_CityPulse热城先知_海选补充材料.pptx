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8C8"/>
          </a:solidFill>
          <a:ln w="12700">
            <a:solidFill>
              <a:srgbClr val="18B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D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CityPulse 热城先知 · 云上码术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652881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D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 AI先锋未来人才大赛 · 去哪儿企业命题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D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CityPulse 热城先知 · 云上码术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652881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 AI先锋未来人才大赛 · 去哪儿企业命题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D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2880360"/>
            <a:ext cx="1097280" cy="1097280"/>
          </a:xfrm>
          <a:prstGeom prst="ellipse">
            <a:avLst/>
          </a:prstGeom>
          <a:solidFill>
            <a:srgbClr val="071522">
              <a:alpha val="0"/>
            </a:srgbClr>
          </a:solidFill>
          <a:ln w="15240">
            <a:solidFill>
              <a:srgbClr val="1644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15100" y="2491740"/>
            <a:ext cx="1874520" cy="1874520"/>
          </a:xfrm>
          <a:prstGeom prst="ellipse">
            <a:avLst/>
          </a:prstGeom>
          <a:solidFill>
            <a:srgbClr val="071522">
              <a:alpha val="0"/>
            </a:srgbClr>
          </a:solidFill>
          <a:ln w="15240">
            <a:solidFill>
              <a:srgbClr val="1644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0" y="2103120"/>
            <a:ext cx="2651760" cy="2651760"/>
          </a:xfrm>
          <a:prstGeom prst="ellipse">
            <a:avLst/>
          </a:prstGeom>
          <a:solidFill>
            <a:srgbClr val="071522">
              <a:alpha val="0"/>
            </a:srgbClr>
          </a:solidFill>
          <a:ln w="15240">
            <a:solidFill>
              <a:srgbClr val="1C65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51776" y="2002536"/>
            <a:ext cx="201168" cy="201168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920240"/>
            <a:ext cx="365760" cy="365760"/>
          </a:xfrm>
          <a:prstGeom prst="ellipse">
            <a:avLst/>
          </a:prstGeom>
          <a:solidFill>
            <a:srgbClr val="071522">
              <a:alpha val="0"/>
            </a:srgbClr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86216" y="2779776"/>
            <a:ext cx="201168" cy="201168"/>
          </a:xfrm>
          <a:prstGeom prst="ellipse">
            <a:avLst/>
          </a:prstGeom>
          <a:solidFill>
            <a:srgbClr val="FF9B54"/>
          </a:solidFill>
          <a:ln w="12700">
            <a:solidFill>
              <a:srgbClr val="FF9B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2697480"/>
            <a:ext cx="365760" cy="365760"/>
          </a:xfrm>
          <a:prstGeom prst="ellipse">
            <a:avLst/>
          </a:prstGeom>
          <a:solidFill>
            <a:srgbClr val="071522">
              <a:alpha val="0"/>
            </a:srgbClr>
          </a:solidFill>
          <a:ln w="12700">
            <a:solidFill>
              <a:srgbClr val="FF9B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0216" y="3831336"/>
            <a:ext cx="201168" cy="201168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3749040"/>
            <a:ext cx="365760" cy="365760"/>
          </a:xfrm>
          <a:prstGeom prst="ellipse">
            <a:avLst/>
          </a:prstGeom>
          <a:solidFill>
            <a:srgbClr val="071522">
              <a:alpha val="0"/>
            </a:srgbClr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29016" y="4471416"/>
            <a:ext cx="201168" cy="201168"/>
          </a:xfrm>
          <a:prstGeom prst="ellipse">
            <a:avLst/>
          </a:prstGeom>
          <a:solidFill>
            <a:srgbClr val="FF9B54"/>
          </a:solidFill>
          <a:ln w="12700">
            <a:solidFill>
              <a:srgbClr val="FF9B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4389120"/>
            <a:ext cx="365760" cy="365760"/>
          </a:xfrm>
          <a:prstGeom prst="ellipse">
            <a:avLst/>
          </a:prstGeom>
          <a:solidFill>
            <a:srgbClr val="071522">
              <a:alpha val="0"/>
            </a:srgbClr>
          </a:solidFill>
          <a:ln w="12700">
            <a:solidFill>
              <a:srgbClr val="FF9B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48856" y="3374136"/>
            <a:ext cx="201168" cy="201168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3291840"/>
            <a:ext cx="365760" cy="365760"/>
          </a:xfrm>
          <a:prstGeom prst="ellipse">
            <a:avLst/>
          </a:prstGeom>
          <a:solidFill>
            <a:srgbClr val="071522">
              <a:alpha val="0"/>
            </a:srgbClr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512064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B3A49"/>
          </a:solidFill>
          <a:ln w="12700">
            <a:solidFill>
              <a:srgbClr val="0B3A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521208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D5E8"/>
                </a:solidFill>
              </a:rPr>
              <a:t>去哪儿企业命题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" y="123444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2F8FC"/>
                </a:solidFill>
              </a:rPr>
              <a:t>CityPulse 热城先知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" y="1965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9CDDA"/>
                </a:solidFill>
              </a:rPr>
              <a:t>面向去哪儿的爆火小城预测与产品生成智能体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3D5E8"/>
                </a:solidFill>
              </a:rPr>
              <a:t>在热度形成前 7-14 天，识别、解释、行动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" y="3401568"/>
            <a:ext cx="59893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1A9BB"/>
                </a:solidFill>
              </a:rPr>
              <a:t>不是让大模型“猜城市”，而是用多源弱信号、时间截断回测和可解释排序，帮助去哪儿提前准备供给、内容与用户体验。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5303520" cy="0"/>
          </a:xfrm>
          <a:prstGeom prst="line">
            <a:avLst/>
          </a:prstGeom>
          <a:noFill/>
          <a:ln w="12700">
            <a:solidFill>
              <a:srgbClr val="3156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8348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8FC"/>
                </a:solidFill>
              </a:rPr>
              <a:t>云上码术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" y="5376672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1A9BB"/>
                </a:solidFill>
              </a:rPr>
              <a:t>陈帅 · 武汉文理学院   /   沈均皓 · 长江工程职业技术学院   /   袁雨芳 · 中北大学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18120" y="987552"/>
            <a:ext cx="3566160" cy="4434840"/>
          </a:xfrm>
          <a:prstGeom prst="roundRect">
            <a:avLst>
              <a:gd name="adj" fmla="val 3077"/>
            </a:avLst>
          </a:prstGeom>
          <a:solidFill>
            <a:srgbClr val="0E2638"/>
          </a:solidFill>
          <a:ln w="10160">
            <a:solidFill>
              <a:srgbClr val="2447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13533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8FC"/>
                </a:solidFill>
              </a:rPr>
              <a:t>预测 → 证据 → 行动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229600" y="1920240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102E42"/>
          </a:solidFill>
          <a:ln w="12700">
            <a:solidFill>
              <a:srgbClr val="2447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19933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弱信号雷达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28048" y="1993392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91A9BB"/>
                </a:solidFill>
              </a:rPr>
              <a:t>异常加速，不看绝对热度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 rot="5400000">
            <a:off x="9436608" y="2487168"/>
            <a:ext cx="320040" cy="164592"/>
          </a:xfrm>
          <a:prstGeom prst="chevron">
            <a:avLst/>
          </a:prstGeom>
          <a:solidFill>
            <a:srgbClr val="305A70"/>
          </a:solidFill>
          <a:ln w="12700">
            <a:solidFill>
              <a:srgbClr val="305A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706624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102E42"/>
          </a:solidFill>
          <a:ln w="12700">
            <a:solidFill>
              <a:srgbClr val="2447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27797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可解释排序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528048" y="2779776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91A9BB"/>
                </a:solidFill>
              </a:rPr>
              <a:t>概率、风险与证据链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 rot="5400000">
            <a:off x="9436608" y="3273552"/>
            <a:ext cx="320040" cy="164592"/>
          </a:xfrm>
          <a:prstGeom prst="chevron">
            <a:avLst/>
          </a:prstGeom>
          <a:solidFill>
            <a:srgbClr val="305A70"/>
          </a:solidFill>
          <a:ln w="12700">
            <a:solidFill>
              <a:srgbClr val="305A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3493008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0C4552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35661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D5E8"/>
                </a:solidFill>
              </a:rPr>
              <a:t>去哪儿动作页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528048" y="3566160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91A9BB"/>
                </a:solidFill>
              </a:rPr>
              <a:t>产品、投放与备供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 rot="5400000">
            <a:off x="9436608" y="4059936"/>
            <a:ext cx="320040" cy="164592"/>
          </a:xfrm>
          <a:prstGeom prst="chevron">
            <a:avLst/>
          </a:prstGeom>
          <a:solidFill>
            <a:srgbClr val="305A70"/>
          </a:solidFill>
          <a:ln w="12700">
            <a:solidFill>
              <a:srgbClr val="305A7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4279392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102E42"/>
          </a:solidFill>
          <a:ln w="12700">
            <a:solidFill>
              <a:srgbClr val="2447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43525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历史回测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528048" y="4352544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91A9BB"/>
                </a:solidFill>
              </a:rPr>
              <a:t>提前量与误报可复核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8138160" y="57607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899D"/>
                </a:solidFill>
              </a:rPr>
              <a:t>海选补充材料 · 2026年7月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8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去哪儿真正需要的，不是更快追热点，而是更早做决策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587"/>
                </a:solidFill>
              </a:rPr>
              <a:t>从“热度已发生”前移到“供给、产品和内容仍可准备”的窗口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240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62456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7587"/>
                </a:solidFill>
              </a:rPr>
              <a:t>2025 国内出游人次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04672" y="1591056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83A"/>
                </a:solidFill>
              </a:rPr>
              <a:t>65.22 亿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04672" y="1975104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8294A2"/>
                </a:solidFill>
              </a:rPr>
              <a:t>同比增长 16.2%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3063240" y="1234440"/>
            <a:ext cx="2240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322580000" dist="193548000" dir="162000000000">
              <a:srgbClr val="000000">
                <a:alpha val="18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27832" y="1362456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7587"/>
                </a:solidFill>
              </a:rPr>
              <a:t>2025 国内出游花费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227832" y="1591056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83A"/>
                </a:solidFill>
              </a:rPr>
              <a:t>6.30 万亿元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27832" y="1975104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8294A2"/>
                </a:solidFill>
              </a:rPr>
              <a:t>同比增长 9.5%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486400" y="1234440"/>
            <a:ext cx="2240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4096766000000" dist="2458059600000" dir="9720000000000000">
              <a:srgbClr val="000000">
                <a:alpha val="1800000000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50992" y="1362456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7587"/>
                </a:solidFill>
              </a:rPr>
              <a:t>全国 A 级景区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650992" y="1591056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83A"/>
                </a:solidFill>
              </a:rPr>
              <a:t>16,994 个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650992" y="1975104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8294A2"/>
                </a:solidFill>
              </a:rPr>
              <a:t>全年接待游客 75.1 亿人次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8001000" y="123444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071522"/>
          </a:solidFill>
          <a:ln w="10160">
            <a:solidFill>
              <a:srgbClr val="071522"/>
            </a:solidFill>
            <a:prstDash val="solid"/>
          </a:ln>
          <a:effectLst>
            <a:outerShdw sx="100000" sy="100000" kx="0" ky="0" algn="bl" rotWithShape="0" blurRad="52028928200000000" dist="31217356920000000" dir="583200000000000000000">
              <a:srgbClr val="000000">
                <a:alpha val="180000000000000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0" y="1417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A9BB"/>
                </a:solidFill>
              </a:rPr>
              <a:t>决策目标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3D5E8"/>
                </a:solidFill>
              </a:rPr>
              <a:t>提前 7-14 天进入行动窗口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8368" y="26060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7989"/>
                </a:solidFill>
              </a:rPr>
              <a:t>01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34440" y="25968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当前业务缺口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368" y="3054096"/>
            <a:ext cx="352958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660767388140000000000" dist="396460432884000000000" dir="3.4992e+25">
              <a:srgbClr val="000000">
                <a:alpha val="1.8e+2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24612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255264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63040" y="3182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识别滞后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3630168"/>
            <a:ext cx="3154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7587"/>
                </a:solidFill>
              </a:rPr>
              <a:t>热度达到榜单后再追，获客成本与供给压力已显著上升。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480560" y="3054096"/>
            <a:ext cx="352958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8.391745829378e+24" dist="5.0350474976268e+24" dir="2.09952e+30">
              <a:srgbClr val="000000">
                <a:alpha val="1.8e+29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45152" y="324612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3255264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D21"/>
                </a:solidFill>
              </a:rPr>
              <a:t>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85232" y="3182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单一信号噪声高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45152" y="3630168"/>
            <a:ext cx="3154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7587"/>
                </a:solidFill>
              </a:rPr>
              <a:t>热搜、内容量或某场活动都可能短时冲高，但未必转化为旅行需求。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8302752" y="3054096"/>
            <a:ext cx="352958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1.0657517203310059e+29" dist="6.3945103219860365e+28" dir="1.259712e+35">
              <a:srgbClr val="000000">
                <a:alpha val="1.7999999999999998e+34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67344" y="324612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67344" y="3255264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07424" y="3182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预测与经营断裂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67344" y="3630168"/>
            <a:ext cx="3154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7587"/>
                </a:solidFill>
              </a:rPr>
              <a:t>“可能会火”如果不能转成产品、投放和备供动作，对平台价值有限。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658368" y="4681728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681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7989"/>
                </a:solidFill>
              </a:rPr>
              <a:t>02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234440" y="46725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CityPulse 的答案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58368" y="5084064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4F7F9"/>
          </a:solidFill>
          <a:ln w="10160">
            <a:solidFill>
              <a:srgbClr val="B7E8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" y="532180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6E7C"/>
                </a:solidFill>
              </a:rPr>
              <a:t>多源弱信号发现异常加速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163824" y="5330952"/>
            <a:ext cx="365760" cy="219456"/>
          </a:xfrm>
          <a:prstGeom prst="chevron">
            <a:avLst/>
          </a:prstGeom>
          <a:solidFill>
            <a:srgbClr val="78C9D1"/>
          </a:solidFill>
          <a:ln w="12700">
            <a:solidFill>
              <a:srgbClr val="78C9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02736" y="532180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6E7C"/>
                </a:solidFill>
              </a:rPr>
              <a:t>排序 + 校准 + 证据解释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815584" y="5330952"/>
            <a:ext cx="365760" cy="219456"/>
          </a:xfrm>
          <a:prstGeom prst="chevron">
            <a:avLst/>
          </a:prstGeom>
          <a:solidFill>
            <a:srgbClr val="78C9D1"/>
          </a:solidFill>
          <a:ln w="12700">
            <a:solidFill>
              <a:srgbClr val="78C9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53218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6E7C"/>
                </a:solidFill>
              </a:rPr>
              <a:t>生成去哪儿经营动作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257032" y="5330952"/>
            <a:ext cx="365760" cy="219456"/>
          </a:xfrm>
          <a:prstGeom prst="chevron">
            <a:avLst/>
          </a:prstGeom>
          <a:solidFill>
            <a:srgbClr val="78C9D1"/>
          </a:solidFill>
          <a:ln w="12700">
            <a:solidFill>
              <a:srgbClr val="78C9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53218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6E7C"/>
                </a:solidFill>
              </a:rPr>
              <a:t>持续监控与反馈校准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94360" y="6245352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7F91A0"/>
                </a:solidFill>
              </a:rPr>
              <a:t>来源：文化和旅游部《2025年文化和旅游发展统计公报》 https://zwgk.mct.gov.cn/zfxxgkml/tjxx/202606/t20260602_966073.html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D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既有城市、Agent 与经营产品积累，让我们不是从零开始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1A9BB"/>
                </a:solidFill>
              </a:rPr>
              <a:t>团队材料中的既有项目被重新组合成“预测-决策-体验”闭环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3493008" cy="2258568"/>
          </a:xfrm>
          <a:prstGeom prst="roundRect">
            <a:avLst>
              <a:gd name="adj" fmla="val 4858"/>
            </a:avLst>
          </a:prstGeom>
          <a:solidFill>
            <a:srgbClr val="0E2638"/>
          </a:solidFill>
          <a:ln w="10160">
            <a:solidFill>
              <a:srgbClr val="24475D"/>
            </a:solidFill>
            <a:prstDash val="solid"/>
          </a:ln>
          <a:effectLst>
            <a:outerShdw sx="100000" sy="100000" kx="0" ky="0" algn="bl" rotWithShape="0" blurRad="1.3535046848203775e+33" dist="8.121028108922266e+32" dir="7.558272e+39">
              <a:srgbClr val="000000">
                <a:alpha val="1.8e+3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3619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0C4552"/>
          </a:solidFill>
          <a:ln w="12700">
            <a:solidFill>
              <a:srgbClr val="0C45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4533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D5E8"/>
                </a:solidFill>
              </a:rPr>
              <a:t>城市体验资产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9476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F8FC"/>
                </a:solidFill>
              </a:rPr>
              <a:t>CityMuse Lens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30540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91A9BB"/>
                </a:solidFill>
              </a:rPr>
              <a:t>路线规划、知识库、记忆体、多模态理解与双端交互；可承接预测后的个性化导览和在地体验。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02E42"/>
          </a:solidFill>
          <a:ln w="12700">
            <a:solidFill>
              <a:srgbClr val="102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63824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7D7"/>
                </a:solidFill>
              </a:rPr>
              <a:t>城市知识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10512" y="315468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02E42"/>
          </a:solidFill>
          <a:ln w="12700">
            <a:solidFill>
              <a:srgbClr val="10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3163824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7D7"/>
                </a:solidFill>
              </a:rPr>
              <a:t>路线生成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98064" y="315468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02E42"/>
          </a:solidFill>
          <a:ln w="12700">
            <a:solidFill>
              <a:srgbClr val="10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3163824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7D7"/>
                </a:solidFill>
              </a:rPr>
              <a:t>用户记忆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89120" y="1298448"/>
            <a:ext cx="3493008" cy="2258568"/>
          </a:xfrm>
          <a:prstGeom prst="roundRect">
            <a:avLst>
              <a:gd name="adj" fmla="val 4858"/>
            </a:avLst>
          </a:prstGeom>
          <a:solidFill>
            <a:srgbClr val="0E2638"/>
          </a:solidFill>
          <a:ln w="10160">
            <a:solidFill>
              <a:srgbClr val="24475D"/>
            </a:solidFill>
            <a:prstDash val="solid"/>
          </a:ln>
          <a:effectLst>
            <a:outerShdw sx="100000" sy="100000" kx="0" ky="0" algn="bl" rotWithShape="0" blurRad="1.7189509497218795e+37" dist="1.0313705698331278e+37" dir="4.5349632000000006e+44">
              <a:srgbClr val="000000">
                <a:alpha val="1.8e+4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0288" y="153619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3C2B1A"/>
          </a:solidFill>
          <a:ln w="12700">
            <a:solidFill>
              <a:srgbClr val="3C2B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154533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B54"/>
                </a:solidFill>
              </a:rPr>
              <a:t>可信 Agent 资产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90288" y="19476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F8FC"/>
                </a:solidFill>
              </a:rPr>
              <a:t>MiMo 共栖 CoNest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2359152"/>
            <a:ext cx="30540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91A9BB"/>
                </a:solidFill>
              </a:rPr>
              <a:t>结构化输出、确定性校验、工具调用、动态重规划；证明团队能把模型能力做成可验证的软件流程。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590288" y="315468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02E42"/>
          </a:solidFill>
          <a:ln w="12700">
            <a:solidFill>
              <a:srgbClr val="102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3163824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7D7"/>
                </a:solidFill>
              </a:rPr>
              <a:t>结构化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77840" y="315468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02E42"/>
          </a:solidFill>
          <a:ln w="12700">
            <a:solidFill>
              <a:srgbClr val="102E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163824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7D7"/>
                </a:solidFill>
              </a:rPr>
              <a:t>可解释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65392" y="315468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02E42"/>
          </a:solidFill>
          <a:ln w="12700">
            <a:solidFill>
              <a:srgbClr val="102E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3163824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7D7"/>
                </a:solidFill>
              </a:rPr>
              <a:t>可撤销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156448" y="1298448"/>
            <a:ext cx="3493008" cy="2258568"/>
          </a:xfrm>
          <a:prstGeom prst="roundRect">
            <a:avLst>
              <a:gd name="adj" fmla="val 4858"/>
            </a:avLst>
          </a:prstGeom>
          <a:solidFill>
            <a:srgbClr val="0E2638"/>
          </a:solidFill>
          <a:ln w="10160">
            <a:solidFill>
              <a:srgbClr val="24475D"/>
            </a:solidFill>
            <a:prstDash val="solid"/>
          </a:ln>
          <a:effectLst>
            <a:outerShdw sx="100000" sy="100000" kx="0" ky="0" algn="bl" rotWithShape="0" blurRad="2.183067706146787e+41" dist="1.3098406236880722e+41" dir="2.72097792e+49">
              <a:srgbClr val="000000">
                <a:alpha val="1.8e+4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57616" y="153619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0C4552"/>
          </a:solidFill>
          <a:ln w="12700">
            <a:solidFill>
              <a:srgbClr val="0C45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57616" y="154533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D5E8"/>
                </a:solidFill>
              </a:rPr>
              <a:t>经营决策资产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57616" y="19476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F8FC"/>
                </a:solidFill>
              </a:rPr>
              <a:t>智营 AI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57616" y="2359152"/>
            <a:ext cx="30540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91A9BB"/>
                </a:solidFill>
              </a:rPr>
              <a:t>热度评分、竞品分析、RAG、工具调用与多平台经营动作；可迁移为文旅趋势到经营动作的产品方法。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357616" y="315468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02E42"/>
          </a:solidFill>
          <a:ln w="12700">
            <a:solidFill>
              <a:srgbClr val="102E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57616" y="3163824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7D7"/>
                </a:solidFill>
              </a:rPr>
              <a:t>热度评分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345168" y="315468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02E42"/>
          </a:solidFill>
          <a:ln w="12700">
            <a:solidFill>
              <a:srgbClr val="102E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45168" y="3163824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7D7"/>
                </a:solidFill>
              </a:rPr>
              <a:t>证据检索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332720" y="315468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02E42"/>
          </a:solidFill>
          <a:ln w="12700">
            <a:solidFill>
              <a:srgbClr val="102E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0" y="3163824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7D7"/>
                </a:solidFill>
              </a:rPr>
              <a:t>动作生成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1792" y="3913632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0C4552"/>
          </a:solidFill>
          <a:ln w="12700">
            <a:solidFill>
              <a:srgbClr val="0C45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39136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D5E8"/>
                </a:solidFill>
              </a:rPr>
              <a:t>TEAM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97864" y="39044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8FC"/>
                </a:solidFill>
              </a:rPr>
              <a:t>三人分工与可验收交付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21792" y="4334256"/>
            <a:ext cx="3493008" cy="1325880"/>
          </a:xfrm>
          <a:prstGeom prst="roundRect">
            <a:avLst>
              <a:gd name="adj" fmla="val 8276"/>
            </a:avLst>
          </a:prstGeom>
          <a:solidFill>
            <a:srgbClr val="0C2232"/>
          </a:solidFill>
          <a:ln w="10160">
            <a:solidFill>
              <a:srgbClr val="24475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4535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8FC"/>
                </a:solidFill>
              </a:rPr>
              <a:t>陈帅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645920" y="457200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1A9BB"/>
                </a:solidFill>
              </a:rPr>
              <a:t>武汉文理学院</a:t>
            </a:r>
            <a:endParaRPr lang="en-US" sz="870" dirty="0"/>
          </a:p>
        </p:txBody>
      </p:sp>
      <p:sp>
        <p:nvSpPr>
          <p:cNvPr id="43" name="Text 41"/>
          <p:cNvSpPr/>
          <p:nvPr/>
        </p:nvSpPr>
        <p:spPr>
          <a:xfrm>
            <a:off x="804672" y="49377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3D5E8"/>
                </a:solidFill>
              </a:rPr>
              <a:t>队长 / 产品与 Agent 架构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4672" y="52395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91A9BB"/>
                </a:solidFill>
              </a:rPr>
              <a:t>需求边界、数据与接口 Schema、端到端联调、路演叙事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389120" y="4334256"/>
            <a:ext cx="3493008" cy="1325880"/>
          </a:xfrm>
          <a:prstGeom prst="roundRect">
            <a:avLst>
              <a:gd name="adj" fmla="val 8276"/>
            </a:avLst>
          </a:prstGeom>
          <a:solidFill>
            <a:srgbClr val="0C2232"/>
          </a:solidFill>
          <a:ln w="10160">
            <a:solidFill>
              <a:srgbClr val="24475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4535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8FC"/>
                </a:solidFill>
              </a:rPr>
              <a:t>沈均皓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13248" y="457200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1A9BB"/>
                </a:solidFill>
              </a:rPr>
              <a:t>长江工程职业技术学院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4572000" y="49377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9B54"/>
                </a:solidFill>
              </a:rPr>
              <a:t>数据 / 模型 / 后端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0" y="52395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91A9BB"/>
                </a:solidFill>
              </a:rPr>
              <a:t>数据适配、异常检测、排序 API、日志、缓存与异常降级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8156448" y="4334256"/>
            <a:ext cx="3493008" cy="1325880"/>
          </a:xfrm>
          <a:prstGeom prst="roundRect">
            <a:avLst>
              <a:gd name="adj" fmla="val 8276"/>
            </a:avLst>
          </a:prstGeom>
          <a:solidFill>
            <a:srgbClr val="0C2232"/>
          </a:solidFill>
          <a:ln w="10160">
            <a:solidFill>
              <a:srgbClr val="24475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39328" y="4535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8FC"/>
                </a:solidFill>
              </a:rPr>
              <a:t>袁雨芳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80576" y="457200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1A9BB"/>
                </a:solidFill>
              </a:rPr>
              <a:t>中北大学</a:t>
            </a:r>
            <a:endParaRPr lang="en-US" sz="870" dirty="0"/>
          </a:p>
        </p:txBody>
      </p:sp>
      <p:sp>
        <p:nvSpPr>
          <p:cNvPr id="53" name="Text 51"/>
          <p:cNvSpPr/>
          <p:nvPr/>
        </p:nvSpPr>
        <p:spPr>
          <a:xfrm>
            <a:off x="8339328" y="49377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1D6A5"/>
                </a:solidFill>
              </a:rPr>
              <a:t>前端 / 可视化 / 测试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339328" y="52395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91A9BB"/>
                </a:solidFill>
              </a:rPr>
              <a:t>热城雷达、城市详情、动作页、回测页、测试集与演示稳定性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621792" y="5833872"/>
            <a:ext cx="10972800" cy="384048"/>
          </a:xfrm>
          <a:prstGeom prst="roundRect">
            <a:avLst>
              <a:gd name="adj" fmla="val 28571"/>
            </a:avLst>
          </a:prstGeom>
          <a:solidFill>
            <a:srgbClr val="0B3542"/>
          </a:solidFill>
          <a:ln w="10160">
            <a:solidFill>
              <a:srgbClr val="0B35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" y="5934456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B8D1DD"/>
                </a:solidFill>
              </a:rPr>
              <a:t>协作机制：一人主责、两人复核；Schema 先行、接口并行、Demo 驱动；每个承诺落到代码、界面、日志、测试或演示脚本。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8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把“下一座爆火小城”定义成可计算、可验证的排序问题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587"/>
                </a:solidFill>
              </a:rPr>
              <a:t>预测对象不是城市的绝对热度，而是未来需求是否出现异常跃升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5074920" cy="1207008"/>
          </a:xfrm>
          <a:prstGeom prst="roundRect">
            <a:avLst>
              <a:gd name="adj" fmla="val 9091"/>
            </a:avLst>
          </a:prstGeom>
          <a:solidFill>
            <a:srgbClr val="071522"/>
          </a:solidFill>
          <a:ln w="10160">
            <a:solidFill>
              <a:srgbClr val="071522"/>
            </a:solidFill>
            <a:prstDash val="solid"/>
          </a:ln>
          <a:effectLst>
            <a:outerShdw sx="100000" sy="100000" kx="0" ky="0" algn="bl" rotWithShape="0" blurRad="2.7724959868064195e+45" dist="1.6634975920838518e+45" dir="1.6325867520000003e+54">
              <a:srgbClr val="000000">
                <a:alpha val="1.8e+5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D5E8"/>
                </a:solidFill>
              </a:rPr>
              <a:t>输入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08760" y="1444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8FC"/>
                </a:solidFill>
              </a:rPr>
              <a:t>每个 city_id × date 的特征快照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18745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1A9BB"/>
                </a:solidFill>
              </a:rPr>
              <a:t>内容、搜索、事件、交通、供给、天气、扩散与风险等多源信号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89320" y="1234440"/>
            <a:ext cx="55321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3.5210699032441527e+49" dist="2.1126419419464918e+49" dir="9.795520512000002e+58">
              <a:srgbClr val="000000">
                <a:alpha val="1.8000000000000001e+5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36208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7989"/>
                </a:solidFill>
              </a:rPr>
              <a:t>输出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14447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83A"/>
                </a:solidFill>
              </a:rPr>
              <a:t>未来 7 / 14 / 30 天异常增长概率 + 城市排序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36208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587"/>
                </a:solidFill>
              </a:rPr>
              <a:t>同时输出置信区间、风险压力、证据完整度与经营动作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278892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88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7989"/>
                </a:solidFill>
              </a:rPr>
              <a:t>01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34440" y="277977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关键区分：已火 vs 将火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82112" y="3081528"/>
            <a:ext cx="3172968" cy="384048"/>
          </a:xfrm>
          <a:prstGeom prst="roundRect">
            <a:avLst>
              <a:gd name="adj" fmla="val 19048"/>
            </a:avLst>
          </a:prstGeom>
          <a:solidFill>
            <a:srgbClr val="E4F7F9"/>
          </a:solidFill>
          <a:ln w="11430">
            <a:solidFill>
              <a:srgbClr val="A7DD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3172968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6E7C"/>
                </a:solidFill>
              </a:rPr>
              <a:t>CityPulse 价值区间：在公开爆发前完成异常发现与跨源确认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143000" y="3767328"/>
            <a:ext cx="9656064" cy="0"/>
          </a:xfrm>
          <a:prstGeom prst="line">
            <a:avLst/>
          </a:prstGeom>
          <a:noFill/>
          <a:ln w="25400">
            <a:solidFill>
              <a:srgbClr val="A9BA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" y="3657600"/>
            <a:ext cx="219456" cy="219456"/>
          </a:xfrm>
          <a:prstGeom prst="ellipse">
            <a:avLst/>
          </a:prstGeom>
          <a:solidFill>
            <a:srgbClr val="8FA4B3"/>
          </a:solidFill>
          <a:ln w="12700">
            <a:solidFill>
              <a:srgbClr val="8FA4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0156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7587"/>
                </a:solidFill>
              </a:rPr>
              <a:t>T-30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9684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83A"/>
                </a:solidFill>
              </a:rPr>
              <a:t>潜伏期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9768" y="42428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F7587"/>
                </a:solidFill>
              </a:rPr>
              <a:t>信号分散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447288" y="3657600"/>
            <a:ext cx="219456" cy="219456"/>
          </a:xfrm>
          <a:prstGeom prst="ellipse">
            <a:avLst/>
          </a:prstGeom>
          <a:solidFill>
            <a:srgbClr val="8FA4B3"/>
          </a:solidFill>
          <a:ln w="12700">
            <a:solidFill>
              <a:srgbClr val="8FA4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45536" y="340156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7587"/>
                </a:solidFill>
              </a:rPr>
              <a:t>T-14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871216" y="39684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83A"/>
                </a:solidFill>
              </a:rPr>
              <a:t>观察窗口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43784" y="42428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F7587"/>
                </a:solidFill>
              </a:rPr>
              <a:t>异常加速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861304" y="3657600"/>
            <a:ext cx="219456" cy="219456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340156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7989"/>
                </a:solidFill>
              </a:rPr>
              <a:t>T-7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85232" y="39684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83A"/>
                </a:solidFill>
              </a:rPr>
              <a:t>行动窗口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57800" y="42428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F7587"/>
                </a:solidFill>
              </a:rPr>
              <a:t>跨源确认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275320" y="3657600"/>
            <a:ext cx="219456" cy="219456"/>
          </a:xfrm>
          <a:prstGeom prst="ellipse">
            <a:avLst/>
          </a:prstGeom>
          <a:solidFill>
            <a:srgbClr val="FF9B54"/>
          </a:solidFill>
          <a:ln w="12700">
            <a:solidFill>
              <a:srgbClr val="FF9B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340156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5D21"/>
                </a:solidFill>
              </a:rPr>
              <a:t>T0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99248" y="39684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83A"/>
                </a:solidFill>
              </a:rPr>
              <a:t>公开爆发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71816" y="42428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F7587"/>
                </a:solidFill>
              </a:rPr>
              <a:t>市场拥挤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10689336" y="3657600"/>
            <a:ext cx="219456" cy="219456"/>
          </a:xfrm>
          <a:prstGeom prst="ellipse">
            <a:avLst/>
          </a:prstGeom>
          <a:solidFill>
            <a:srgbClr val="8FA4B3"/>
          </a:solidFill>
          <a:ln w="12700">
            <a:solidFill>
              <a:srgbClr val="8FA4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87584" y="340156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7587"/>
                </a:solidFill>
              </a:rPr>
              <a:t>T+7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113264" y="39684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83A"/>
                </a:solidFill>
              </a:rPr>
              <a:t>风险治理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085832" y="42428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F7587"/>
                </a:solidFill>
              </a:rPr>
              <a:t>供给承压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58368" y="4828032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828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7989"/>
                </a:solidFill>
              </a:rPr>
              <a:t>02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234440" y="48188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决策状态与验收指标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58368" y="5212080"/>
            <a:ext cx="1938528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5376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83A"/>
                </a:solidFill>
              </a:rPr>
              <a:t>储备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481328" y="53858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87"/>
                </a:solidFill>
              </a:rPr>
              <a:t>信号不足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4672" y="56967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F7587"/>
                </a:solidFill>
              </a:rPr>
              <a:t>继续积累证据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2807208" y="5212080"/>
            <a:ext cx="1938528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53512" y="5376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83A"/>
                </a:solidFill>
              </a:rPr>
              <a:t>观察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630168" y="53858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87"/>
                </a:solidFill>
              </a:rPr>
              <a:t>异常出现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953512" y="56967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F7587"/>
                </a:solidFill>
              </a:rPr>
              <a:t>小流量验证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4956048" y="5212080"/>
            <a:ext cx="1938528" cy="804672"/>
          </a:xfrm>
          <a:prstGeom prst="roundRect">
            <a:avLst>
              <a:gd name="adj" fmla="val 13636"/>
            </a:avLst>
          </a:prstGeom>
          <a:solidFill>
            <a:srgbClr val="E4F7F9"/>
          </a:solidFill>
          <a:ln w="10160">
            <a:solidFill>
              <a:srgbClr val="A7DD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5376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6E7C"/>
                </a:solidFill>
              </a:rPr>
              <a:t>行动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779008" y="53858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87"/>
                </a:solidFill>
              </a:rPr>
              <a:t>跨源确认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102352" y="56967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F7587"/>
                </a:solidFill>
              </a:rPr>
              <a:t>上架、投放、备供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7315200" y="5285232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E9F0FE"/>
          </a:solidFill>
          <a:ln w="12700">
            <a:solidFill>
              <a:srgbClr val="E9F0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5294376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5FA8"/>
                </a:solidFill>
              </a:rPr>
              <a:t>Hit@5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668512" y="5285232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E9F0FE"/>
          </a:solidFill>
          <a:ln w="12700">
            <a:solidFill>
              <a:srgbClr val="E9F0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68512" y="5294376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5FA8"/>
                </a:solidFill>
              </a:rPr>
              <a:t>NDCG@10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021824" y="5285232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E9F0FE"/>
          </a:solidFill>
          <a:ln w="12700">
            <a:solidFill>
              <a:srgbClr val="E9F0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21824" y="5294376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5FA8"/>
                </a:solidFill>
              </a:rPr>
              <a:t>Lead Days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315200" y="5724144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0" y="5733288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D21"/>
                </a:solidFill>
              </a:rPr>
              <a:t>False Alerts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668512" y="5724144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68512" y="5733288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D21"/>
                </a:solidFill>
              </a:rPr>
              <a:t>Brier / ECE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0021824" y="5724144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21824" y="5733288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D21"/>
                </a:solidFill>
              </a:rPr>
              <a:t>Evidence Coverage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D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8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 / 开放 / 企业授权三层数据，先完成方法闭环，再做企业校准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587"/>
                </a:solidFill>
              </a:rPr>
              <a:t>在无内部订单数据时仍能启动；进入企业阶段后替换代理变量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3429000" cy="1444752"/>
          </a:xfrm>
          <a:prstGeom prst="roundRect">
            <a:avLst>
              <a:gd name="adj" fmla="val 7595"/>
            </a:avLst>
          </a:prstGeom>
          <a:solidFill>
            <a:srgbClr val="EAF3F8"/>
          </a:solidFill>
          <a:ln w="10160">
            <a:solidFill>
              <a:srgbClr val="D3E1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81328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D1EEF1"/>
          </a:solidFill>
          <a:ln w="12700">
            <a:solidFill>
              <a:srgbClr val="D1EE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90472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E7C"/>
                </a:solidFill>
              </a:rPr>
              <a:t>可信骨架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85623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3A"/>
                </a:solidFill>
              </a:rPr>
              <a:t>官方权威数据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3099816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10283A"/>
                </a:solidFill>
              </a:rPr>
              <a:t>文旅统计与景区供给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10283A"/>
                </a:solidFill>
              </a:rPr>
              <a:t>行政区划与城市主数据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10283A"/>
                </a:solidFill>
              </a:rPr>
              <a:t>公开活动、节庆与政策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379976" y="1261872"/>
            <a:ext cx="3429000" cy="1444752"/>
          </a:xfrm>
          <a:prstGeom prst="roundRect">
            <a:avLst>
              <a:gd name="adj" fmla="val 7595"/>
            </a:avLst>
          </a:prstGeom>
          <a:solidFill>
            <a:srgbClr val="E4F7F9"/>
          </a:solidFill>
          <a:ln w="10160">
            <a:solidFill>
              <a:srgbClr val="D3E1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1481328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D1EEF1"/>
          </a:solidFill>
          <a:ln w="12700">
            <a:solidFill>
              <a:srgbClr val="D1EE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490472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E7C"/>
                </a:solidFill>
              </a:rPr>
              <a:t>可调用特征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44568" y="185623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3A"/>
                </a:solidFill>
              </a:rPr>
              <a:t>开放工程数据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4568" y="2176272"/>
            <a:ext cx="3099816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10283A"/>
                </a:solidFill>
              </a:rPr>
              <a:t>POI / 天气 / 路径规划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10283A"/>
                </a:solidFill>
              </a:rPr>
              <a:t>公开交通与事件日历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10283A"/>
                </a:solidFill>
              </a:rPr>
              <a:t>可审计内容代理变量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101584" y="1261872"/>
            <a:ext cx="3429000" cy="1444752"/>
          </a:xfrm>
          <a:prstGeom prst="roundRect">
            <a:avLst>
              <a:gd name="adj" fmla="val 7595"/>
            </a:avLst>
          </a:prstGeom>
          <a:solidFill>
            <a:srgbClr val="FFF0E5"/>
          </a:solidFill>
          <a:ln w="10160">
            <a:solidFill>
              <a:srgbClr val="D3E1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1481328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FADBC3"/>
          </a:solidFill>
          <a:ln w="12700">
            <a:solidFill>
              <a:srgbClr val="FADB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490472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541E"/>
                </a:solidFill>
              </a:rPr>
              <a:t>企业校准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66176" y="185623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3A"/>
                </a:solidFill>
              </a:rPr>
              <a:t>去哪儿授权数据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66176" y="2176272"/>
            <a:ext cx="3099816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10283A"/>
                </a:solidFill>
              </a:rPr>
              <a:t>脱敏搜索与点击趋势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10283A"/>
                </a:solidFill>
              </a:rPr>
              <a:t>订单、价格、库存与取消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10283A"/>
                </a:solidFill>
              </a:rPr>
              <a:t>产品上架和投放反馈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58368" y="301752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7989"/>
                </a:solidFill>
              </a:rPr>
              <a:t>FEAT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34440" y="300837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九类弱信号进入统一城市-日期特征库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26280" y="3456432"/>
            <a:ext cx="3127248" cy="1051560"/>
          </a:xfrm>
          <a:prstGeom prst="roundRect">
            <a:avLst>
              <a:gd name="adj" fmla="val 10435"/>
            </a:avLst>
          </a:prstGeom>
          <a:solidFill>
            <a:srgbClr val="071522"/>
          </a:solidFill>
          <a:ln w="10160">
            <a:solidFill>
              <a:srgbClr val="071522"/>
            </a:solidFill>
            <a:prstDash val="solid"/>
          </a:ln>
          <a:effectLst>
            <a:outerShdw sx="100000" sy="100000" kx="0" ky="0" algn="bl" rotWithShape="0" blurRad="4.471758777120074e+53" dist="2.6830552662720448e+53" dir="5.877312307200001e+63">
              <a:srgbClr val="000000">
                <a:alpha val="1.8e+64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8FC"/>
                </a:solidFill>
              </a:rPr>
              <a:t>City-Date Feature Store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46320" y="41148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D5E8"/>
                </a:solidFill>
              </a:rPr>
              <a:t>city_id × date × data_version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0120" y="333756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34670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内容传播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94560" y="3483864"/>
            <a:ext cx="2331720" cy="493776"/>
          </a:xfrm>
          <a:prstGeom prst="line">
            <a:avLst/>
          </a:prstGeom>
          <a:noFill/>
          <a:ln w="10160">
            <a:solidFill>
              <a:srgbClr val="9CB3C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" y="38862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389534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搜索需求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94560" y="4032504"/>
            <a:ext cx="2331720" cy="-54864"/>
          </a:xfrm>
          <a:prstGeom prst="line">
            <a:avLst/>
          </a:prstGeom>
          <a:noFill/>
          <a:ln w="10160">
            <a:solidFill>
              <a:srgbClr val="9CB3C2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0120" y="443484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44398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事件触发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94560" y="4581144"/>
            <a:ext cx="2331720" cy="-603504"/>
          </a:xfrm>
          <a:prstGeom prst="line">
            <a:avLst/>
          </a:prstGeom>
          <a:noFill/>
          <a:ln w="10160">
            <a:solidFill>
              <a:srgbClr val="9CB3C2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423160" y="50749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3160" y="508406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客源可达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0" y="5221224"/>
            <a:ext cx="868680" cy="-1243584"/>
          </a:xfrm>
          <a:prstGeom prst="line">
            <a:avLst/>
          </a:prstGeom>
          <a:noFill/>
          <a:ln w="10160">
            <a:solidFill>
              <a:srgbClr val="9CB3C2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069080" y="50749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69080" y="508406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供给承载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5221224"/>
            <a:ext cx="777240" cy="-1243584"/>
          </a:xfrm>
          <a:prstGeom prst="line">
            <a:avLst/>
          </a:prstGeom>
          <a:noFill/>
          <a:ln w="10160">
            <a:solidFill>
              <a:srgbClr val="9CB3C2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715000" y="50749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508406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天气适配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5221224"/>
            <a:ext cx="868680" cy="-1243584"/>
          </a:xfrm>
          <a:prstGeom prst="line">
            <a:avLst/>
          </a:prstGeom>
          <a:noFill/>
          <a:ln w="10160">
            <a:solidFill>
              <a:srgbClr val="9CB3C2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360920" y="50749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508406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内容新奇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5221224"/>
            <a:ext cx="941832" cy="-1243584"/>
          </a:xfrm>
          <a:prstGeom prst="line">
            <a:avLst/>
          </a:prstGeom>
          <a:noFill/>
          <a:ln w="10160">
            <a:solidFill>
              <a:srgbClr val="9CB3C2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281160" y="429768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81160" y="430682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跨域扩散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4443984"/>
            <a:ext cx="2862072" cy="-466344"/>
          </a:xfrm>
          <a:prstGeom prst="line">
            <a:avLst/>
          </a:prstGeom>
          <a:noFill/>
          <a:ln w="10160">
            <a:solidFill>
              <a:srgbClr val="9CB3C2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281160" y="356616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81160" y="357530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D21"/>
                </a:solidFill>
              </a:rPr>
              <a:t>风险压力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3712464"/>
            <a:ext cx="2862072" cy="265176"/>
          </a:xfrm>
          <a:prstGeom prst="line">
            <a:avLst/>
          </a:prstGeom>
          <a:noFill/>
          <a:ln w="10160">
            <a:solidFill>
              <a:srgbClr val="9CB3C2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58368" y="5669280"/>
            <a:ext cx="10881360" cy="384048"/>
          </a:xfrm>
          <a:prstGeom prst="roundRect">
            <a:avLst>
              <a:gd name="adj" fmla="val 28571"/>
            </a:avLst>
          </a:prstGeom>
          <a:solidFill>
            <a:srgbClr val="F2F6F9"/>
          </a:solidFill>
          <a:ln w="10160">
            <a:solidFill>
              <a:srgbClr val="DDE7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8680" y="5769864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7587"/>
                </a:solidFill>
              </a:rPr>
              <a:t>合规原则：城市与日期聚合、最低地域粒度为城市、保留来源与 available_at、公开/授权数据分层、生产使用前逐项核对服务条款。</a:t>
            </a:r>
            <a:endParaRPr lang="en-US" sz="940" dirty="0"/>
          </a:p>
        </p:txBody>
      </p:sp>
      <p:sp>
        <p:nvSpPr>
          <p:cNvPr id="54" name="Text 52"/>
          <p:cNvSpPr/>
          <p:nvPr/>
        </p:nvSpPr>
        <p:spPr>
          <a:xfrm>
            <a:off x="594360" y="6245352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7F91A0"/>
                </a:solidFill>
              </a:rPr>
              <a:t>公开能力示例：高德 POI 2.0 / 天气 / 行政区 / 路径规划；文化和旅游部与国家统计局公开统计。 https://lbs.amap.com/api/webservice/guide/api-advanced/newpoisearch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D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技术架构：预测模型与生成模型明确分工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1A9BB"/>
                </a:solidFill>
              </a:rPr>
              <a:t>大模型负责解释和动作，不承担核心预测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0972800" cy="1078992"/>
          </a:xfrm>
          <a:prstGeom prst="roundRect">
            <a:avLst>
              <a:gd name="adj" fmla="val 8475"/>
            </a:avLst>
          </a:prstGeom>
          <a:solidFill>
            <a:srgbClr val="0B3542"/>
          </a:solidFill>
          <a:ln w="12700">
            <a:solidFill>
              <a:srgbClr val="2447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71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3D5E8"/>
                </a:solidFill>
              </a:rPr>
              <a:t>数据与证据层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2606040"/>
            <a:ext cx="10972800" cy="1481328"/>
          </a:xfrm>
          <a:prstGeom prst="roundRect">
            <a:avLst>
              <a:gd name="adj" fmla="val 6173"/>
            </a:avLst>
          </a:prstGeom>
          <a:solidFill>
            <a:srgbClr val="102E42"/>
          </a:solidFill>
          <a:ln w="12700">
            <a:solidFill>
              <a:srgbClr val="2447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43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3D5E8"/>
                </a:solidFill>
              </a:rPr>
              <a:t>预测与解释层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443484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0B3542"/>
          </a:solidFill>
          <a:ln w="12700">
            <a:solidFill>
              <a:srgbClr val="2447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4572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3D5E8"/>
                </a:solidFill>
              </a:rPr>
              <a:t>产品与反馈层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57400" y="1490472"/>
            <a:ext cx="1965960" cy="566928"/>
          </a:xfrm>
          <a:prstGeom prst="roundRect">
            <a:avLst>
              <a:gd name="adj" fmla="val 19355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7128" y="159105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8FC"/>
                </a:solidFill>
              </a:rPr>
              <a:t>Source Adapters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67128" y="1828800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1A9BB"/>
                </a:solidFill>
              </a:rPr>
              <a:t>文旅 / POI / 天气 / 交通 / 企业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4069080" y="1664208"/>
            <a:ext cx="228600" cy="182880"/>
          </a:xfrm>
          <a:prstGeom prst="chevron">
            <a:avLst/>
          </a:prstGeom>
          <a:solidFill>
            <a:srgbClr val="3B6074"/>
          </a:solidFill>
          <a:ln w="12700">
            <a:solidFill>
              <a:srgbClr val="3B60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490472"/>
            <a:ext cx="1965960" cy="566928"/>
          </a:xfrm>
          <a:prstGeom prst="roundRect">
            <a:avLst>
              <a:gd name="adj" fmla="val 19355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159105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8FC"/>
                </a:solidFill>
              </a:rPr>
              <a:t>Raw Evidence Store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98848" y="1828800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1A9BB"/>
                </a:solidFill>
              </a:rPr>
              <a:t>source_url / available_at / 版本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6400800" y="1664208"/>
            <a:ext cx="228600" cy="182880"/>
          </a:xfrm>
          <a:prstGeom prst="chevron">
            <a:avLst/>
          </a:prstGeom>
          <a:solidFill>
            <a:srgbClr val="3B6074"/>
          </a:solidFill>
          <a:ln w="12700">
            <a:solidFill>
              <a:srgbClr val="3B60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490472"/>
            <a:ext cx="1965960" cy="566928"/>
          </a:xfrm>
          <a:prstGeom prst="roundRect">
            <a:avLst>
              <a:gd name="adj" fmla="val 19355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0568" y="159105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8FC"/>
                </a:solidFill>
              </a:rPr>
              <a:t>Entity Resolution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30568" y="1828800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1A9BB"/>
                </a:solidFill>
              </a:rPr>
              <a:t>城市代码 / 别名 / 区县变化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8732520" y="1664208"/>
            <a:ext cx="228600" cy="182880"/>
          </a:xfrm>
          <a:prstGeom prst="chevron">
            <a:avLst/>
          </a:prstGeom>
          <a:solidFill>
            <a:srgbClr val="3B6074"/>
          </a:solidFill>
          <a:ln w="12700">
            <a:solidFill>
              <a:srgbClr val="3B60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1490472"/>
            <a:ext cx="1965960" cy="566928"/>
          </a:xfrm>
          <a:prstGeom prst="roundRect">
            <a:avLst>
              <a:gd name="adj" fmla="val 19355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2288" y="159105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8FC"/>
                </a:solidFill>
              </a:rPr>
              <a:t>Feature Store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62288" y="1828800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1A9BB"/>
                </a:solidFill>
              </a:rPr>
              <a:t>city_id × date × version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234440" y="2926080"/>
            <a:ext cx="1783080" cy="804672"/>
          </a:xfrm>
          <a:prstGeom prst="roundRect">
            <a:avLst>
              <a:gd name="adj" fmla="val 13636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44168" y="310896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8FC"/>
                </a:solidFill>
              </a:rPr>
              <a:t>动态基线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44168" y="3401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1A9BB"/>
                </a:solidFill>
              </a:rPr>
              <a:t>季节 / 同比 / 稳健 Z-score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3044952" y="3218688"/>
            <a:ext cx="201168" cy="164592"/>
          </a:xfrm>
          <a:prstGeom prst="chevron">
            <a:avLst/>
          </a:prstGeom>
          <a:solidFill>
            <a:srgbClr val="3B6074"/>
          </a:solidFill>
          <a:ln w="12700">
            <a:solidFill>
              <a:srgbClr val="3B60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2926080"/>
            <a:ext cx="1783080" cy="804672"/>
          </a:xfrm>
          <a:prstGeom prst="roundRect">
            <a:avLst>
              <a:gd name="adj" fmla="val 13636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7288" y="310896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8FC"/>
                </a:solidFill>
              </a:rPr>
              <a:t>变点检测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47288" y="3401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1A9BB"/>
                </a:solidFill>
              </a:rPr>
              <a:t>识别异常加速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148072" y="3218688"/>
            <a:ext cx="201168" cy="164592"/>
          </a:xfrm>
          <a:prstGeom prst="chevron">
            <a:avLst/>
          </a:prstGeom>
          <a:solidFill>
            <a:srgbClr val="3B6074"/>
          </a:solidFill>
          <a:ln w="12700">
            <a:solidFill>
              <a:srgbClr val="3B60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40680" y="2926080"/>
            <a:ext cx="1783080" cy="804672"/>
          </a:xfrm>
          <a:prstGeom prst="roundRect">
            <a:avLst>
              <a:gd name="adj" fmla="val 13636"/>
            </a:avLst>
          </a:prstGeom>
          <a:solidFill>
            <a:srgbClr val="0C4552"/>
          </a:solidFill>
          <a:ln w="10160">
            <a:solidFill>
              <a:srgbClr val="23D5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0408" y="310896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D5E8"/>
                </a:solidFill>
              </a:rPr>
              <a:t>Learning-to-Rank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0408" y="3401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1A9BB"/>
                </a:solidFill>
              </a:rPr>
              <a:t>未来 7/14/30 天排序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7251192" y="3218688"/>
            <a:ext cx="201168" cy="164592"/>
          </a:xfrm>
          <a:prstGeom prst="chevron">
            <a:avLst/>
          </a:prstGeom>
          <a:solidFill>
            <a:srgbClr val="3B6074"/>
          </a:solidFill>
          <a:ln w="12700">
            <a:solidFill>
              <a:srgbClr val="3B60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3800" y="2926080"/>
            <a:ext cx="1783080" cy="804672"/>
          </a:xfrm>
          <a:prstGeom prst="roundRect">
            <a:avLst>
              <a:gd name="adj" fmla="val 13636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53528" y="310896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8FC"/>
                </a:solidFill>
              </a:rPr>
              <a:t>概率校准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53528" y="3401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1A9BB"/>
                </a:solidFill>
              </a:rPr>
              <a:t>Platt / Isotonic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9354312" y="3218688"/>
            <a:ext cx="201168" cy="164592"/>
          </a:xfrm>
          <a:prstGeom prst="chevron">
            <a:avLst/>
          </a:prstGeom>
          <a:solidFill>
            <a:srgbClr val="3B6074"/>
          </a:solidFill>
          <a:ln w="12700">
            <a:solidFill>
              <a:srgbClr val="3B60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46920" y="2926080"/>
            <a:ext cx="1783080" cy="804672"/>
          </a:xfrm>
          <a:prstGeom prst="roundRect">
            <a:avLst>
              <a:gd name="adj" fmla="val 13636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56648" y="310896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8FC"/>
                </a:solidFill>
              </a:rPr>
              <a:t>SHAP + 证据图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756648" y="3401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1A9BB"/>
                </a:solidFill>
              </a:rPr>
              <a:t>解释驱动与来源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4572000" y="266090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B54"/>
                </a:solidFill>
              </a:rPr>
              <a:t>核心预测链路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14400" y="4727448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3A2A1C"/>
          </a:solidFill>
          <a:ln w="10160">
            <a:solidFill>
              <a:srgbClr val="FF9B5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48371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B54"/>
                </a:solidFill>
              </a:rPr>
              <a:t>Qunar Action Agent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5840" y="5074920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1A9BB"/>
                </a:solidFill>
              </a:rPr>
              <a:t>客群 / 产品 / 上线 / 投放 / 备供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3127248" y="4727448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18688" y="48371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8FC"/>
                </a:solidFill>
              </a:rPr>
              <a:t>全国热城雷达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18688" y="5074920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1A9BB"/>
                </a:solidFill>
              </a:rPr>
              <a:t>榜单 / 地图 / 观察池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5340096" y="4727448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31536" y="48371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8FC"/>
                </a:solidFill>
              </a:rPr>
              <a:t>城市证据页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31536" y="5074920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1A9BB"/>
                </a:solidFill>
              </a:rPr>
              <a:t>时序 / 贡献 / 风险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7552944" y="4727448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44384" y="48371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8FC"/>
                </a:solidFill>
              </a:rPr>
              <a:t>历史回测页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644384" y="5074920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1A9BB"/>
                </a:solidFill>
              </a:rPr>
              <a:t>Hit@5 / 提前量 / 误报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9765792" y="4727448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57232" y="48371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8FC"/>
                </a:solidFill>
              </a:rPr>
              <a:t>反馈校准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857232" y="5074920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1A9BB"/>
                </a:solidFill>
              </a:rPr>
              <a:t>采纳 / 点击 / 订单 / 库存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749808" y="5815584"/>
            <a:ext cx="10652760" cy="384048"/>
          </a:xfrm>
          <a:prstGeom prst="roundRect">
            <a:avLst>
              <a:gd name="adj" fmla="val 28571"/>
            </a:avLst>
          </a:prstGeom>
          <a:solidFill>
            <a:srgbClr val="102A38"/>
          </a:solidFill>
          <a:ln w="10160">
            <a:solidFill>
              <a:srgbClr val="24475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2688" y="591616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EC5D3"/>
                </a:solidFill>
              </a:rPr>
              <a:t>推荐技术栈：FastAPI · PostgreSQL / SQLite · LightGBM / XGBoost · Change-Point Detection · SHAP · LLM JSON Schema · React / Next.js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8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四个技术壁垒，避免同质化“套壳 Agent”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587"/>
                </a:solidFill>
              </a:rPr>
              <a:t>每个创新点都对应可验证的工程或实验产物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5212080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5.679133646942494e+57" dist="3.407480188165497e+57" dir="3.526387384320001e+68">
              <a:srgbClr val="000000">
                <a:alpha val="1.8e+6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472184"/>
            <a:ext cx="530352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8132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27048" y="14447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动态基线 + 变点检测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1865376"/>
            <a:ext cx="4754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587"/>
                </a:solidFill>
              </a:rPr>
              <a:t>比较城市相对自身季节基线的异常加速，而不是只看绝对搜索量。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3225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67989"/>
                </a:solidFill>
              </a:rPr>
              <a:t>输出：异常分、转折点、提前量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6144768" y="1280160"/>
            <a:ext cx="5212080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7.212499731616968e+61" dist="4.327499838970181e+61" dir="2.1158324305920003e+73">
              <a:srgbClr val="000000">
                <a:alpha val="1.8000000000000002e+7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7648" y="1472184"/>
            <a:ext cx="530352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48132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13448" y="14447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跨源确认 + 证据完整度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27648" y="1865376"/>
            <a:ext cx="4754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587"/>
                </a:solidFill>
              </a:rPr>
              <a:t>内容、事件、交通和供给必须形成相互支持的证据链，降低单一热搜误报。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27648" y="23225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67989"/>
                </a:solidFill>
              </a:rPr>
              <a:t>输出：证据卡、来源与可用时间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58368" y="2852928"/>
            <a:ext cx="5212080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9.15987465915355e+65" dist="5.49592479549213e+65" dir="1.2694994583552002e+78">
              <a:srgbClr val="000000">
                <a:alpha val="1.8000000000000003e+7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044952"/>
            <a:ext cx="530352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0540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27048" y="30175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概率校准 + 双阈值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" y="3438144"/>
            <a:ext cx="4754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587"/>
                </a:solidFill>
              </a:rPr>
              <a:t>区分“观察”和“行动”，让置信度与风险决定业务动作强度。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389534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67989"/>
                </a:solidFill>
              </a:rPr>
              <a:t>输出：校准曲线、Brier/ECE、状态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6144768" y="2852928"/>
            <a:ext cx="5212080" cy="1335024"/>
          </a:xfrm>
          <a:prstGeom prst="roundRect">
            <a:avLst>
              <a:gd name="adj" fmla="val 8219"/>
            </a:avLst>
          </a:prstGeom>
          <a:solidFill>
            <a:srgbClr val="FFF0E5"/>
          </a:solidFill>
          <a:ln w="10160">
            <a:solidFill>
              <a:srgbClr val="F2C9AA"/>
            </a:solidFill>
            <a:prstDash val="solid"/>
          </a:ln>
          <a:effectLst>
            <a:outerShdw sx="100000" sy="100000" kx="0" ky="0" algn="bl" rotWithShape="0" blurRad="1.1633040817125008e+70" dist="6.979824490275004e+69" dir="7.616996750131201e+82">
              <a:srgbClr val="000000">
                <a:alpha val="1.8000000000000004e+8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27648" y="3044952"/>
            <a:ext cx="530352" cy="292608"/>
          </a:xfrm>
          <a:prstGeom prst="roundRect">
            <a:avLst>
              <a:gd name="adj" fmla="val 25000"/>
            </a:avLst>
          </a:prstGeom>
          <a:solidFill>
            <a:srgbClr val="FADBC3"/>
          </a:solidFill>
          <a:ln w="12700">
            <a:solidFill>
              <a:srgbClr val="FADB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0540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D21"/>
                </a:solidFill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13448" y="30175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排序到经营动作闭环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7648" y="3438144"/>
            <a:ext cx="4754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587"/>
                </a:solidFill>
              </a:rPr>
              <a:t>预测结果直接生成客群、产品、上线、投放和备供建议，并接入反馈。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27648" y="389534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A85D21"/>
                </a:solidFill>
              </a:rPr>
              <a:t>输出：结构化 Action Plan 与采纳日志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658368" y="461772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617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7989"/>
                </a:solidFill>
              </a:rPr>
              <a:t>VS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234440" y="460857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与常见方案的差异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4956048"/>
          <a:ext cx="10881360" cy="969264"/>
        </p:xfrm>
        <a:graphic>
          <a:graphicData uri="http://schemas.openxmlformats.org/drawingml/2006/table">
            <a:tbl>
              <a:tblPr/>
              <a:tblGrid>
                <a:gridCol w="1325880"/>
                <a:gridCol w="4023360"/>
                <a:gridCol w="553212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维度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常见方案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CityPulse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核心预测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让大模型直接推荐城市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时序异常 + 排序模型 + 校准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验证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事后案例复盘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严格时间截断与对照组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解释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生成式自然语言理由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SHAP + 可引用证据 + 时间版本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输出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趋势报告或聊天回答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去哪儿产品、投放与备供动作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风险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不给不确定性或容量约束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028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双阈值、风险压力与人工复核</a:t>
                      </a:r>
                      <a:endParaRPr lang="en-US" sz="81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41148" marR="41148" marT="41148" marB="41148">
                    <a:lnL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658368" y="4956048"/>
            <a:ext cx="10881360" cy="219456"/>
          </a:xfrm>
          <a:prstGeom prst="rect">
            <a:avLst/>
          </a:prstGeom>
          <a:solidFill>
            <a:srgbClr val="071522"/>
          </a:solidFill>
          <a:ln w="12700">
            <a:solidFill>
              <a:srgbClr val="07152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500176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维度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2029968" y="5001768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常见方案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6053328" y="5001768"/>
            <a:ext cx="5394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3D5E8"/>
                </a:solidFill>
              </a:rPr>
              <a:t>CityPulse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D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8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历史回测：用当时可见的信息证明“提前发现”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587"/>
                </a:solidFill>
              </a:rPr>
              <a:t>模拟曲线仅展示方法；正式结果必须绑定数据版本、截点和代码版本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66294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1.477396183774876e+74" dist="8.864377102649255e+73" dir="4.57019805007872e+87">
              <a:srgbClr val="000000">
                <a:alpha val="1.8000000000000005e+89"/>
              </a:srgbClr>
            </a:outerShdw>
          </a:effectLst>
        </p:spPr>
      </p:sp>
      <p:pic>
        <p:nvPicPr>
          <p:cNvPr id="5" name="Image 0" descr="/mnt/data/citypulse_build/charts/backtest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899" y="1481328"/>
            <a:ext cx="6107186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1517904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57800" y="1527048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D21"/>
                </a:solidFill>
              </a:rPr>
              <a:t>模拟数据 / 方法演示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" y="4709160"/>
            <a:ext cx="5897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587"/>
                </a:solidFill>
              </a:rPr>
              <a:t>正例模板在公开爆发前逐步越过行动阈值；对照组保持低位。正式回测会替换为真实数据并报告误报。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7498080" y="1261872"/>
            <a:ext cx="4041648" cy="4434840"/>
          </a:xfrm>
          <a:prstGeom prst="roundRect">
            <a:avLst>
              <a:gd name="adj" fmla="val 2715"/>
            </a:avLst>
          </a:prstGeom>
          <a:solidFill>
            <a:srgbClr val="071522"/>
          </a:solidFill>
          <a:ln w="10160">
            <a:solidFill>
              <a:srgbClr val="071522"/>
            </a:solidFill>
            <a:prstDash val="solid"/>
          </a:ln>
          <a:effectLst>
            <a:outerShdw sx="100000" sy="100000" kx="0" ky="0" algn="bl" rotWithShape="0" blurRad="1.8762931533940924e+78" dist="1.1257758920364555e+78" dir="2.742118830047232e+92">
              <a:srgbClr val="000000">
                <a:alpha val="1.8000000000000007e+94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90688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8FC"/>
                </a:solidFill>
              </a:rPr>
              <a:t>回测协议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90688" y="2020824"/>
            <a:ext cx="164592" cy="164592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65008" y="19933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时间切分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65008" y="22402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前滚验证，不随机打散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790688" y="2514600"/>
            <a:ext cx="164592" cy="164592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65008" y="2487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信息边界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065008" y="27340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按 available_at 判断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790688" y="3008376"/>
            <a:ext cx="164592" cy="164592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65008" y="29809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样本设计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065008" y="32278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正例 + 同类对照组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790688" y="3502152"/>
            <a:ext cx="164592" cy="164592"/>
          </a:xfrm>
          <a:prstGeom prst="ellipse">
            <a:avLst/>
          </a:prstGeom>
          <a:solidFill>
            <a:srgbClr val="51D6A5"/>
          </a:solidFill>
          <a:ln w="12700">
            <a:solidFill>
              <a:srgbClr val="51D6A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65008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排序指标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065008" y="37216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Hit@5 / NDCG@10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790688" y="3995928"/>
            <a:ext cx="164592" cy="164592"/>
          </a:xfrm>
          <a:prstGeom prst="ellipse">
            <a:avLst/>
          </a:prstGeom>
          <a:solidFill>
            <a:srgbClr val="51D6A5"/>
          </a:solidFill>
          <a:ln w="12700">
            <a:solidFill>
              <a:srgbClr val="51D6A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65008" y="39684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提前量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065008" y="42153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首次越过行动阈值距 T0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790688" y="4489704"/>
            <a:ext cx="164592" cy="164592"/>
          </a:xfrm>
          <a:prstGeom prst="ellipse">
            <a:avLst/>
          </a:prstGeom>
          <a:solidFill>
            <a:srgbClr val="51D6A5"/>
          </a:solidFill>
          <a:ln w="12700">
            <a:solidFill>
              <a:srgbClr val="51D6A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65008" y="44622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误报与校准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065008" y="4709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False Alerts / Brier / ECE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790688" y="4983480"/>
            <a:ext cx="164592" cy="164592"/>
          </a:xfrm>
          <a:prstGeom prst="ellipse">
            <a:avLst/>
          </a:prstGeom>
          <a:solidFill>
            <a:srgbClr val="51D6A5"/>
          </a:solidFill>
          <a:ln w="12700">
            <a:solidFill>
              <a:srgbClr val="51D6A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4956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解释质量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065008" y="52029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Evidence Coverage + 人工复核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754112" y="5486400"/>
            <a:ext cx="3529584" cy="384048"/>
          </a:xfrm>
          <a:prstGeom prst="roundRect">
            <a:avLst>
              <a:gd name="adj" fmla="val 28571"/>
            </a:avLst>
          </a:prstGeom>
          <a:solidFill>
            <a:srgbClr val="0B3542"/>
          </a:solidFill>
          <a:ln w="10160">
            <a:solidFill>
              <a:srgbClr val="0B35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01000" y="55961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B54"/>
                </a:solidFill>
              </a:rPr>
              <a:t>目标门槛 ≠ 已取得结果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94360" y="6245352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7F91A0"/>
                </a:solidFill>
              </a:rPr>
              <a:t>示例目标：Hit@5 ≥60%、平均提前量 ≥7 天、证据覆盖率 ≥90%；均需真实数据回测后报告。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D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8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数据分析样本：不仅展示分数，还展示“为什么”和“不确定性”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587"/>
                </a:solidFill>
              </a:rPr>
              <a:t>所有城市与数值均为模拟，目的在于证明数据合同与分析输出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2.3828923048104974e+82" dist="1.4297353828862985e+82" dir="1.6452712980283393e+97">
              <a:srgbClr val="000000">
                <a:alpha val="1.8000000000000008e+99"/>
              </a:srgbClr>
            </a:outerShdw>
          </a:effectLst>
        </p:spPr>
      </p:sp>
      <p:pic>
        <p:nvPicPr>
          <p:cNvPr id="5" name="Image 0" descr="/mnt/data/citypulse_build/charts/ranking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92347"/>
            <a:ext cx="5120640" cy="25875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83A"/>
                </a:solidFill>
              </a:rPr>
              <a:t>输出对象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627632" y="4828032"/>
            <a:ext cx="896112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27632" y="4837176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7989"/>
                </a:solidFill>
              </a:rPr>
              <a:t>综合分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633472" y="4828032"/>
            <a:ext cx="896112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33472" y="4837176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7989"/>
                </a:solidFill>
              </a:rPr>
              <a:t>置信度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639312" y="4828032"/>
            <a:ext cx="896112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39312" y="4837176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D21"/>
                </a:solidFill>
              </a:rPr>
              <a:t>行动等级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45152" y="4828032"/>
            <a:ext cx="896112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45152" y="4837176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7989"/>
                </a:solidFill>
              </a:rPr>
              <a:t>风险压力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68680" y="5321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587"/>
                </a:solidFill>
              </a:rPr>
              <a:t>榜单服务于资源分配，而不是对外发布“城市命运预测”。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355080" y="1261872"/>
            <a:ext cx="519379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3.0262732271093317e+86" dist="1.815763936265599e+86" dir="9.871627788170037e+101">
              <a:srgbClr val="000000">
                <a:alpha val="1.800000000000001e+104"/>
              </a:srgbClr>
            </a:outerShdw>
          </a:effectLst>
        </p:spPr>
      </p:sp>
      <p:pic>
        <p:nvPicPr>
          <p:cNvPr id="17" name="Image 1" descr="/mnt/data/citypulse_build/charts/factor_contri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841329"/>
            <a:ext cx="4800600" cy="248954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01968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83A"/>
                </a:solidFill>
              </a:rPr>
              <a:t>解释对象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360920" y="4828032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9F0FE"/>
          </a:solidFill>
          <a:ln w="12700">
            <a:solidFill>
              <a:srgbClr val="E9F0F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60920" y="483717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5FA8"/>
                </a:solidFill>
              </a:rPr>
              <a:t>特征贡献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8321040" y="4828032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9F0FE"/>
          </a:solidFill>
          <a:ln w="12700">
            <a:solidFill>
              <a:srgbClr val="E9F0F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21040" y="483717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5FA8"/>
                </a:solidFill>
              </a:rPr>
              <a:t>证据来源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9281160" y="4828032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9F0FE"/>
          </a:solidFill>
          <a:ln w="12700">
            <a:solidFill>
              <a:srgbClr val="E9F0F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281160" y="483717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5FA8"/>
                </a:solidFill>
              </a:rPr>
              <a:t>时间版本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10241280" y="4828032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241280" y="483717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D21"/>
                </a:solidFill>
              </a:rPr>
              <a:t>风险扣分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601968" y="5321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587"/>
                </a:solidFill>
              </a:rPr>
              <a:t>解释必须能够回到原始证据，而不是由大模型事后编故事。</a:t>
            </a:r>
            <a:endParaRPr lang="en-US" sz="920" dirty="0"/>
          </a:p>
        </p:txBody>
      </p:sp>
      <p:sp>
        <p:nvSpPr>
          <p:cNvPr id="28" name="Shape 24"/>
          <p:cNvSpPr/>
          <p:nvPr/>
        </p:nvSpPr>
        <p:spPr>
          <a:xfrm>
            <a:off x="621792" y="5925312"/>
            <a:ext cx="10927080" cy="292608"/>
          </a:xfrm>
          <a:prstGeom prst="roundRect">
            <a:avLst>
              <a:gd name="adj" fmla="val 37500"/>
            </a:avLst>
          </a:prstGeom>
          <a:solidFill>
            <a:srgbClr val="FFF0E5"/>
          </a:solidFill>
          <a:ln w="10160">
            <a:solidFill>
              <a:srgbClr val="F2D1B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41248" y="6007608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B541F"/>
                </a:solidFill>
              </a:rPr>
              <a:t>真实性声明：本页数据为演示样本，不代表对延吉、景德镇等城市的真实判断。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D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四页原型，让评委在 30 秒内看懂完整闭环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1A9BB"/>
                </a:solidFill>
              </a:rPr>
              <a:t>雷达 → 详情 → 动作 → 回测；所有演示页显式标注模拟数据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21792" y="1207008"/>
            <a:ext cx="5358384" cy="2331720"/>
          </a:xfrm>
          <a:prstGeom prst="roundRect">
            <a:avLst>
              <a:gd name="adj" fmla="val 4706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  <a:effectLst>
            <a:outerShdw sx="100000" sy="100000" kx="0" ky="0" algn="bl" rotWithShape="0" blurRad="3.8433669984288512e+90" dist="2.3060201990573107e+90" dir="5.9229766729020215e+106">
              <a:srgbClr val="000000">
                <a:alpha val="1.800000000000001e+109"/>
              </a:srgbClr>
            </a:outerShdw>
          </a:effectLst>
        </p:spPr>
      </p:sp>
      <p:pic>
        <p:nvPicPr>
          <p:cNvPr id="5" name="Image 0" descr="/mnt/data/citypulse_build/preview/ui_radar.png">    </p:cNvPr>
          <p:cNvPicPr>
            <a:picLocks noChangeAspect="1"/>
          </p:cNvPicPr>
          <p:nvPr/>
        </p:nvPicPr>
        <p:blipFill>
          <a:blip r:embed="rId1"/>
          <a:srcRect l="0" r="0" t="13453" b="13453"/>
          <a:stretch/>
        </p:blipFill>
        <p:spPr>
          <a:xfrm>
            <a:off x="676656" y="1261872"/>
            <a:ext cx="5248656" cy="2157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" y="3081528"/>
            <a:ext cx="5248656" cy="338328"/>
          </a:xfrm>
          <a:prstGeom prst="rect">
            <a:avLst/>
          </a:prstGeom>
          <a:solidFill>
            <a:srgbClr val="06121D">
              <a:alpha val="88000"/>
            </a:srgbClr>
          </a:solidFill>
          <a:ln w="12700">
            <a:solidFill>
              <a:srgbClr val="06121D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31546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8FC"/>
                </a:solidFill>
              </a:rPr>
              <a:t>01 全国热城雷达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43984" y="31546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3D5E8"/>
                </a:solidFill>
              </a:rPr>
              <a:t>发现与解释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199632" y="1207008"/>
            <a:ext cx="5358384" cy="2331720"/>
          </a:xfrm>
          <a:prstGeom prst="roundRect">
            <a:avLst>
              <a:gd name="adj" fmla="val 4706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  <a:effectLst>
            <a:outerShdw sx="100000" sy="100000" kx="0" ky="0" algn="bl" rotWithShape="0" blurRad="4.8810760880046414e+94" dist="2.928645652802785e+94" dir="3.553786003741213e+111">
              <a:srgbClr val="000000">
                <a:alpha val="1.800000000000001e+114"/>
              </a:srgbClr>
            </a:outerShdw>
          </a:effectLst>
        </p:spPr>
      </p:sp>
      <p:pic>
        <p:nvPicPr>
          <p:cNvPr id="10" name="Image 1" descr="/mnt/data/citypulse_build/preview/ui_detail.png">    </p:cNvPr>
          <p:cNvPicPr>
            <a:picLocks noChangeAspect="1"/>
          </p:cNvPicPr>
          <p:nvPr/>
        </p:nvPicPr>
        <p:blipFill>
          <a:blip r:embed="rId2"/>
          <a:srcRect l="0" r="0" t="13453" b="13453"/>
          <a:stretch/>
        </p:blipFill>
        <p:spPr>
          <a:xfrm>
            <a:off x="6254496" y="1261872"/>
            <a:ext cx="5248656" cy="21579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54496" y="3081528"/>
            <a:ext cx="5248656" cy="338328"/>
          </a:xfrm>
          <a:prstGeom prst="rect">
            <a:avLst/>
          </a:prstGeom>
          <a:solidFill>
            <a:srgbClr val="06121D">
              <a:alpha val="88000"/>
            </a:srgbClr>
          </a:solidFill>
          <a:ln w="12700">
            <a:solidFill>
              <a:srgbClr val="06121D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19088" y="31546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8FC"/>
                </a:solidFill>
              </a:rPr>
              <a:t>02 城市详情与证据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021824" y="31546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3D5E8"/>
                </a:solidFill>
              </a:rPr>
              <a:t>发现与解释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21792" y="3822192"/>
            <a:ext cx="5358384" cy="2331720"/>
          </a:xfrm>
          <a:prstGeom prst="roundRect">
            <a:avLst>
              <a:gd name="adj" fmla="val 4706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  <a:effectLst>
            <a:outerShdw sx="100000" sy="100000" kx="0" ky="0" algn="bl" rotWithShape="0" blurRad="6.198966631765894e+98" dist="3.7193799790595366e+98" dir="2.1322716022447277e+116">
              <a:srgbClr val="000000">
                <a:alpha val="1.800000000000001e+119"/>
              </a:srgbClr>
            </a:outerShdw>
          </a:effectLst>
        </p:spPr>
      </p:sp>
      <p:pic>
        <p:nvPicPr>
          <p:cNvPr id="15" name="Image 2" descr="/mnt/data/citypulse_build/preview/ui_action.png">    </p:cNvPr>
          <p:cNvPicPr>
            <a:picLocks noChangeAspect="1"/>
          </p:cNvPicPr>
          <p:nvPr/>
        </p:nvPicPr>
        <p:blipFill>
          <a:blip r:embed="rId3"/>
          <a:srcRect l="0" r="0" t="13453" b="13453"/>
          <a:stretch/>
        </p:blipFill>
        <p:spPr>
          <a:xfrm>
            <a:off x="676656" y="3877056"/>
            <a:ext cx="5248656" cy="215798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76656" y="5696712"/>
            <a:ext cx="5248656" cy="338328"/>
          </a:xfrm>
          <a:prstGeom prst="rect">
            <a:avLst/>
          </a:prstGeom>
          <a:solidFill>
            <a:srgbClr val="06121D">
              <a:alpha val="88000"/>
            </a:srgbClr>
          </a:solidFill>
          <a:ln w="12700">
            <a:solidFill>
              <a:srgbClr val="06121D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41248" y="57698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8FC"/>
                </a:solidFill>
              </a:rPr>
              <a:t>03 去哪儿经营动作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443984" y="5769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9B54"/>
                </a:solidFill>
              </a:rPr>
              <a:t>行动与验证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199632" y="3822192"/>
            <a:ext cx="5358384" cy="2331720"/>
          </a:xfrm>
          <a:prstGeom prst="roundRect">
            <a:avLst>
              <a:gd name="adj" fmla="val 4706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  <a:effectLst>
            <a:outerShdw sx="100000" sy="100000" kx="0" ky="0" algn="bl" rotWithShape="0" blurRad="7.872687622342685e+102" dist="4.723612573405612e+102" dir="1.2793629613468366e+121">
              <a:srgbClr val="000000">
                <a:alpha val="1.800000000000001e+124"/>
              </a:srgbClr>
            </a:outerShdw>
          </a:effectLst>
        </p:spPr>
      </p:sp>
      <p:pic>
        <p:nvPicPr>
          <p:cNvPr id="20" name="Image 3" descr="/mnt/data/citypulse_build/preview/ui_backtest.png">    </p:cNvPr>
          <p:cNvPicPr>
            <a:picLocks noChangeAspect="1"/>
          </p:cNvPicPr>
          <p:nvPr/>
        </p:nvPicPr>
        <p:blipFill>
          <a:blip r:embed="rId4"/>
          <a:srcRect l="0" r="0" t="13453" b="13453"/>
          <a:stretch/>
        </p:blipFill>
        <p:spPr>
          <a:xfrm>
            <a:off x="6254496" y="3877056"/>
            <a:ext cx="5248656" cy="215798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54496" y="5696712"/>
            <a:ext cx="5248656" cy="338328"/>
          </a:xfrm>
          <a:prstGeom prst="rect">
            <a:avLst/>
          </a:prstGeom>
          <a:solidFill>
            <a:srgbClr val="06121D">
              <a:alpha val="88000"/>
            </a:srgbClr>
          </a:solidFill>
          <a:ln w="12700">
            <a:solidFill>
              <a:srgbClr val="06121D">
                <a:alpha val="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19088" y="57698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8FC"/>
                </a:solidFill>
              </a:rPr>
              <a:t>04 历史回测验证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0021824" y="5769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9B54"/>
                </a:solidFill>
              </a:rPr>
              <a:t>行动与验证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8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从“城市会火”到“去哪儿今天能做什么”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587"/>
                </a:solidFill>
              </a:rPr>
              <a:t>经营动作是产品核心，不是展示后的附加功能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21792" y="1243584"/>
            <a:ext cx="7360920" cy="4526280"/>
          </a:xfrm>
          <a:prstGeom prst="roundRect">
            <a:avLst>
              <a:gd name="adj" fmla="val 2424"/>
            </a:avLst>
          </a:prstGeom>
          <a:solidFill>
            <a:srgbClr val="071522"/>
          </a:solidFill>
          <a:ln w="10160">
            <a:solidFill>
              <a:srgbClr val="071522"/>
            </a:solidFill>
            <a:prstDash val="solid"/>
          </a:ln>
          <a:effectLst>
            <a:outerShdw sx="100000" sy="100000" kx="0" ky="0" algn="bl" rotWithShape="0" blurRad="9.998313280375211e+106" dist="5.998987968225127e+106" dir="7.67617776808102e+125">
              <a:srgbClr val="000000">
                <a:alpha val="1.800000000000001e+129"/>
              </a:srgbClr>
            </a:outerShdw>
          </a:effectLst>
        </p:spPr>
      </p:sp>
      <p:pic>
        <p:nvPicPr>
          <p:cNvPr id="5" name="Image 0" descr="/mnt/data/citypulse_build/preview/ui_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17904"/>
            <a:ext cx="7022592" cy="3950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47888" y="1243584"/>
            <a:ext cx="3310128" cy="4526280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1.2697857866076517e+111" dist="7.618714719645911e+110" dir="4.605706660848612e+130">
              <a:srgbClr val="000000">
                <a:alpha val="1.800000000000001e+134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22208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83A"/>
                </a:solidFill>
              </a:rPr>
              <a:t>运营闭环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522208" y="1993392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22208" y="2002536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989"/>
                </a:solidFill>
              </a:rPr>
              <a:t>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015984" y="2020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83A"/>
                </a:solidFill>
              </a:rPr>
              <a:t>预测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765792" y="20299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7587"/>
                </a:solidFill>
              </a:rPr>
              <a:t>识别异常升温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8695944" y="2304288"/>
            <a:ext cx="0" cy="201168"/>
          </a:xfrm>
          <a:prstGeom prst="line">
            <a:avLst/>
          </a:prstGeom>
          <a:noFill/>
          <a:ln w="12700">
            <a:solidFill>
              <a:srgbClr val="A6B8C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522208" y="2514600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22208" y="2523744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989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015984" y="2542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83A"/>
                </a:solidFill>
              </a:rPr>
              <a:t>确认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765792" y="255117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7587"/>
                </a:solidFill>
              </a:rPr>
              <a:t>证据与风险复核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8695944" y="2825496"/>
            <a:ext cx="0" cy="201168"/>
          </a:xfrm>
          <a:prstGeom prst="line">
            <a:avLst/>
          </a:prstGeom>
          <a:noFill/>
          <a:ln w="12700">
            <a:solidFill>
              <a:srgbClr val="A6B8C5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522208" y="3035808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22208" y="3044952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D21"/>
                </a:solidFill>
              </a:rPr>
              <a:t>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015984" y="3063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83A"/>
                </a:solidFill>
              </a:rPr>
              <a:t>产品化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765792" y="30723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7587"/>
                </a:solidFill>
              </a:rPr>
              <a:t>客群/交通/酒店/线路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8695944" y="3346704"/>
            <a:ext cx="0" cy="201168"/>
          </a:xfrm>
          <a:prstGeom prst="line">
            <a:avLst/>
          </a:prstGeom>
          <a:noFill/>
          <a:ln w="12700">
            <a:solidFill>
              <a:srgbClr val="A6B8C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522208" y="3557016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22208" y="3566160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D21"/>
                </a:solidFill>
              </a:rPr>
              <a:t>4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015984" y="35844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83A"/>
                </a:solidFill>
              </a:rPr>
              <a:t>上线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765792" y="35935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7587"/>
                </a:solidFill>
              </a:rPr>
              <a:t>小流量到放量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8695944" y="3867912"/>
            <a:ext cx="0" cy="201168"/>
          </a:xfrm>
          <a:prstGeom prst="line">
            <a:avLst/>
          </a:prstGeom>
          <a:noFill/>
          <a:ln w="12700">
            <a:solidFill>
              <a:srgbClr val="A6B8C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522208" y="4078224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E9F0FE"/>
          </a:solidFill>
          <a:ln w="12700">
            <a:solidFill>
              <a:srgbClr val="E9F0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522208" y="4087368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5FA8"/>
                </a:solidFill>
              </a:rPr>
              <a:t>5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015984" y="410565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83A"/>
                </a:solidFill>
              </a:rPr>
              <a:t>监控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9765792" y="4114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7587"/>
                </a:solidFill>
              </a:rPr>
              <a:t>价格/库存/舆情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8695944" y="4389120"/>
            <a:ext cx="0" cy="201168"/>
          </a:xfrm>
          <a:prstGeom prst="line">
            <a:avLst/>
          </a:prstGeom>
          <a:noFill/>
          <a:ln w="12700">
            <a:solidFill>
              <a:srgbClr val="A6B8C5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522208" y="4599432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E9F0FE"/>
          </a:solidFill>
          <a:ln w="12700">
            <a:solidFill>
              <a:srgbClr val="E9F0F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22208" y="4608576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5FA8"/>
                </a:solidFill>
              </a:rPr>
              <a:t>6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9015984" y="462686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83A"/>
                </a:solidFill>
              </a:rPr>
              <a:t>反馈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9765792" y="46360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7587"/>
                </a:solidFill>
              </a:rPr>
              <a:t>采纳/点击/订单校准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8485632" y="5321808"/>
            <a:ext cx="2788920" cy="274320"/>
          </a:xfrm>
          <a:prstGeom prst="roundRect">
            <a:avLst>
              <a:gd name="adj" fmla="val 40000"/>
            </a:avLst>
          </a:prstGeom>
          <a:solidFill>
            <a:srgbClr val="E4F7F9"/>
          </a:solidFill>
          <a:ln w="10160">
            <a:solidFill>
              <a:srgbClr val="BDE5E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631936" y="5394960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6E7C"/>
                </a:solidFill>
              </a:rPr>
              <a:t>CityMuse：预测后的游客体验层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21792" y="5925312"/>
            <a:ext cx="10927080" cy="274320"/>
          </a:xfrm>
          <a:prstGeom prst="roundRect">
            <a:avLst>
              <a:gd name="adj" fmla="val 40000"/>
            </a:avLst>
          </a:prstGeom>
          <a:solidFill>
            <a:srgbClr val="F2F6F9"/>
          </a:solidFill>
          <a:ln w="10160">
            <a:solidFill>
              <a:srgbClr val="DDE7E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1248" y="5998464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83A"/>
                </a:solidFill>
              </a:rPr>
              <a:t>平台价值：更早进入供给准备窗口，更低成本验证需求，更快生成可售产品，并在热度过载前控制风险。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D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8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实施计划：先交付可验证 MVP，再升级企业数据与在线决策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587"/>
                </a:solidFill>
              </a:rPr>
              <a:t>范围控制优先于功能堆叠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234440" y="2011680"/>
            <a:ext cx="9518904" cy="0"/>
          </a:xfrm>
          <a:prstGeom prst="line">
            <a:avLst/>
          </a:prstGeom>
          <a:noFill/>
          <a:ln w="25400">
            <a:solidFill>
              <a:srgbClr val="A9BB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74520"/>
            <a:ext cx="274320" cy="274320"/>
          </a:xfrm>
          <a:prstGeom prst="ellipse">
            <a:avLst/>
          </a:prstGeom>
          <a:solidFill>
            <a:srgbClr val="51D6A5"/>
          </a:solidFill>
          <a:ln w="12700">
            <a:solidFill>
              <a:srgbClr val="51D6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984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DDF5EA"/>
          </a:solidFill>
          <a:ln w="12700">
            <a:solidFill>
              <a:srgbClr val="DDF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0759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7A59"/>
                </a:solidFill>
              </a:rPr>
              <a:t>海选阶段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83A"/>
                </a:solidFill>
              </a:rPr>
              <a:t>已完成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82880" y="2688336"/>
            <a:ext cx="2103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7587"/>
                </a:solidFill>
              </a:rPr>
              <a:t>方案、数据字典、模拟样本、原型、代码仓库模板与真实性声明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270248" y="1874520"/>
            <a:ext cx="274320" cy="274320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21608" y="12984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130759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7989"/>
                </a:solidFill>
              </a:rPr>
              <a:t>第 1-2 周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21608" y="2304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83A"/>
                </a:solidFill>
              </a:rPr>
              <a:t>MVP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55848" y="2688336"/>
            <a:ext cx="2103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7587"/>
                </a:solidFill>
              </a:rPr>
              <a:t>30-50 城市、透明基线、变点检测、3 个历史案例与对照组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443216" y="1874520"/>
            <a:ext cx="274320" cy="274320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94576" y="12984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130759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7989"/>
                </a:solidFill>
              </a:rPr>
              <a:t>第 3-4 周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94576" y="2304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83A"/>
                </a:solidFill>
              </a:rPr>
              <a:t>模型增强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28816" y="2688336"/>
            <a:ext cx="2103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7587"/>
                </a:solidFill>
              </a:rPr>
              <a:t>Learning-to-Rank、概率校准、SHAP、证据图与动作双阈值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10616184" y="1874520"/>
            <a:ext cx="274320" cy="274320"/>
          </a:xfrm>
          <a:prstGeom prst="ellipse">
            <a:avLst/>
          </a:prstGeom>
          <a:solidFill>
            <a:srgbClr val="FF9B54"/>
          </a:solidFill>
          <a:ln w="12700">
            <a:solidFill>
              <a:srgbClr val="FF9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67544" y="12984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67544" y="130759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D21"/>
                </a:solidFill>
              </a:rPr>
              <a:t>企业阶段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67544" y="2304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83A"/>
                </a:solidFill>
              </a:rPr>
              <a:t>业务校准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701784" y="2688336"/>
            <a:ext cx="2103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7587"/>
                </a:solidFill>
              </a:rPr>
              <a:t>接入去哪儿脱敏搜索、订单、价格、库存与 A/B 反馈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658368" y="388620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886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7989"/>
                </a:solidFill>
              </a:rPr>
              <a:t>TEAM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34440" y="38770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角色、产物与验收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8368" y="4297680"/>
            <a:ext cx="34290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1.6126279489917177e+115" dist="9.675767693950307e+114" dir="2.763423996509167e+135">
              <a:srgbClr val="000000">
                <a:alpha val="1.800000000000001e+139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1248" y="45079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陈帅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18488" y="45445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7989"/>
                </a:solidFill>
              </a:rPr>
              <a:t>产品与 Agent 架构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841248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587"/>
                </a:solidFill>
              </a:rPr>
              <a:t>需求模型、Schema、联调、演示叙事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41248" y="53218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283A"/>
                </a:solidFill>
              </a:rPr>
              <a:t>验收：范围与端到端可用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61688" y="4297680"/>
            <a:ext cx="34290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2.0480374952194813e+119" dist="1.2288224971316889e+119" dir="1.6580543979055002e+140">
              <a:srgbClr val="000000">
                <a:alpha val="1.800000000000001e+144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44568" y="45079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沈均皓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21808" y="45445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A85D21"/>
                </a:solidFill>
              </a:rPr>
              <a:t>数据 / 模型 / 后端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4544568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587"/>
                </a:solidFill>
              </a:rPr>
              <a:t>数据适配、特征服务、模型 API、日志降级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44568" y="53218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283A"/>
                </a:solidFill>
              </a:rPr>
              <a:t>验收：可重跑回测与稳定服务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65008" y="4297680"/>
            <a:ext cx="34290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7E3EB"/>
            </a:solidFill>
            <a:prstDash val="solid"/>
          </a:ln>
          <a:effectLst>
            <a:outerShdw sx="100000" sy="100000" kx="0" ky="0" algn="bl" rotWithShape="0" blurRad="2.6010076189287412e+123" dist="1.5606045713572448e+123" dir="9.948326387433002e+144">
              <a:srgbClr val="000000">
                <a:alpha val="1.8000000000000009e+149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47888" y="45079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袁雨芳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025128" y="45445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37A59"/>
                </a:solidFill>
              </a:rPr>
              <a:t>前端 / 可视化 / 测试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8247888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587"/>
                </a:solidFill>
              </a:rPr>
              <a:t>四页原型、图表、测试集、演示双保险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47888" y="53218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283A"/>
                </a:solidFill>
              </a:rPr>
              <a:t>验收：可操作界面与可复核测试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58368" y="5897880"/>
            <a:ext cx="10881360" cy="301752"/>
          </a:xfrm>
          <a:prstGeom prst="roundRect">
            <a:avLst>
              <a:gd name="adj" fmla="val 36364"/>
            </a:avLst>
          </a:prstGeom>
          <a:solidFill>
            <a:srgbClr val="071522"/>
          </a:solidFill>
          <a:ln w="10160">
            <a:solidFill>
              <a:srgbClr val="0715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5980176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2F8FC"/>
                </a:solidFill>
              </a:rPr>
              <a:t>范围承诺：先保证“数据快照—预测—证据—动作—回测”一条稳定链路，再扩展更多城市与数据源。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D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8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风险、合规与企业落地：不确定性必须进入产品设计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587"/>
                </a:solidFill>
              </a:rPr>
              <a:t>预测工具不能把城市、用户或平台置于不可控风险中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89304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53312" y="1298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83A"/>
                </a:solidFill>
              </a:rPr>
              <a:t>未来信息泄漏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34640" y="12984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587"/>
                </a:solidFill>
              </a:rPr>
              <a:t>使用 available_at、历史快照与前滚验证；每次回测绑定版本。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58368" y="214884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57984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53312" y="21671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83A"/>
                </a:solidFill>
              </a:rPr>
              <a:t>数据版权与隐私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34640" y="21671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587"/>
                </a:solidFill>
              </a:rPr>
              <a:t>只使用公开或授权数据；城市级聚合，不采集个人轨迹和查询。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58368" y="301752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026664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53312" y="30358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83A"/>
                </a:solidFill>
              </a:rPr>
              <a:t>大模型幻觉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30358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587"/>
                </a:solidFill>
              </a:rPr>
              <a:t>事实字段只来自工具与证据图；JSON Schema 校验，低置信度人工复核。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58368" y="388620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95344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53312" y="39044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83A"/>
                </a:solidFill>
              </a:rPr>
              <a:t>误报与资源浪费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34640" y="39044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587"/>
                </a:solidFill>
              </a:rPr>
              <a:t>概率校准、观察/行动双阈值、小流量验证，报告 False Alerts。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58368" y="475488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764024"/>
            <a:ext cx="502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D21"/>
                </a:solidFill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53312" y="47731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83A"/>
                </a:solidFill>
              </a:rPr>
              <a:t>过度旅游与供给风险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834640" y="4773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587"/>
                </a:solidFill>
              </a:rPr>
              <a:t>容量、价格、舆情和安全进入风险压力；越界自动降级。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8138160" y="1261872"/>
            <a:ext cx="3401568" cy="4526280"/>
          </a:xfrm>
          <a:prstGeom prst="roundRect">
            <a:avLst>
              <a:gd name="adj" fmla="val 3226"/>
            </a:avLst>
          </a:prstGeom>
          <a:solidFill>
            <a:srgbClr val="071522"/>
          </a:solidFill>
          <a:ln w="10160">
            <a:solidFill>
              <a:srgbClr val="071522"/>
            </a:solidFill>
            <a:prstDash val="solid"/>
          </a:ln>
          <a:effectLst>
            <a:outerShdw sx="100000" sy="100000" kx="0" ky="0" algn="bl" rotWithShape="0" blurRad="3.303279676039501e+127" dist="1.9819678056237007e+127" dir="5.968995832459801e+149">
              <a:srgbClr val="000000">
                <a:alpha val="1.800000000000001e+154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30768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8FC"/>
                </a:solidFill>
              </a:rPr>
              <a:t>可扩展业务场景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430768" y="2112264"/>
            <a:ext cx="164592" cy="164592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05088" y="20848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节庆与非遗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05088" y="23317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提前识别内容与客流共振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430768" y="2770632"/>
            <a:ext cx="164592" cy="164592"/>
          </a:xfrm>
          <a:prstGeom prst="ellipse">
            <a:avLst/>
          </a:prstGeom>
          <a:solidFill>
            <a:srgbClr val="FF9B54"/>
          </a:solidFill>
          <a:ln w="12700">
            <a:solidFill>
              <a:srgbClr val="FF9B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5088" y="2743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演出与音乐节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05088" y="29900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联动交通、住宿和票外产品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430768" y="3429000"/>
            <a:ext cx="164592" cy="164592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05088" y="34015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赛事旅游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705088" y="36484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根据赛程与客源地准备产品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30768" y="4087368"/>
            <a:ext cx="164592" cy="164592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05088" y="40599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影视带动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705088" y="43068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识别取景地与内容扩散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30768" y="4745736"/>
            <a:ext cx="164592" cy="164592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05088" y="4718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季节性小城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705088" y="49651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冰雪、避暑、赏花、夜游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394192" y="5468112"/>
            <a:ext cx="2852928" cy="228600"/>
          </a:xfrm>
          <a:prstGeom prst="roundRect">
            <a:avLst>
              <a:gd name="adj" fmla="val 48000"/>
            </a:avLst>
          </a:prstGeom>
          <a:solidFill>
            <a:srgbClr val="0B3542"/>
          </a:solidFill>
          <a:ln w="10160">
            <a:solidFill>
              <a:srgbClr val="0B35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77072" y="5522976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D5E8"/>
                </a:solidFill>
              </a:rPr>
              <a:t>一套能力，多个增长场景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658368" y="5925312"/>
            <a:ext cx="10881360" cy="274320"/>
          </a:xfrm>
          <a:prstGeom prst="roundRect">
            <a:avLst>
              <a:gd name="adj" fmla="val 40000"/>
            </a:avLst>
          </a:prstGeom>
          <a:solidFill>
            <a:srgbClr val="FFF0E5"/>
          </a:solidFill>
          <a:ln w="10160">
            <a:solidFill>
              <a:srgbClr val="F2D1B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5998464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9B541F"/>
                </a:solidFill>
              </a:rPr>
              <a:t>产品原则：系统给出证据、概率和建议，人保留最终决策权；任何“行动”都必须可追溯、可撤销、可降级。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D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8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本次海选附件可被命题企业与评委直接核验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587"/>
                </a:solidFill>
              </a:rPr>
              <a:t>材料越充分，不等于材料越多；重点是降低理解与核验成本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7989"/>
                </a:solidFill>
              </a:rPr>
              <a:t>FILE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34440" y="12252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提交材料清单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1664208"/>
            <a:ext cx="475488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73352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D21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07592" y="1682496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83A"/>
                </a:solidFill>
              </a:rPr>
              <a:t>主 PDF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97480" y="1691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7587"/>
                </a:solidFill>
              </a:rPr>
              <a:t>15 页方案与证据叙事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295144"/>
            <a:ext cx="475488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04288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07592" y="231343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83A"/>
                </a:solidFill>
              </a:rPr>
              <a:t>可编辑 PPTX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97480" y="23225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7587"/>
                </a:solidFill>
              </a:rPr>
              <a:t>方便继续迭代与路演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2926080"/>
            <a:ext cx="475488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935224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07592" y="294436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83A"/>
                </a:solidFill>
              </a:rPr>
              <a:t>XLSX 数据包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97480" y="2953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7587"/>
                </a:solidFill>
              </a:rPr>
              <a:t>公式、数据字典、回测协议、参考资料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" y="3557016"/>
            <a:ext cx="475488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566160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07592" y="357530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83A"/>
                </a:solidFill>
              </a:rPr>
              <a:t>GitHub 仓库模板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697480" y="35844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7587"/>
                </a:solidFill>
              </a:rPr>
              <a:t>静态原型、CSV、评分代码与文档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" y="4187952"/>
            <a:ext cx="475488" cy="292608"/>
          </a:xfrm>
          <a:prstGeom prst="roundRect">
            <a:avLst>
              <a:gd name="adj" fmla="val 25000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197096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989"/>
                </a:solidFill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07592" y="420624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83A"/>
                </a:solidFill>
              </a:rPr>
              <a:t>交互原型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697480" y="42153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7587"/>
                </a:solidFill>
              </a:rPr>
              <a:t>雷达、详情、动作、回测四页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" y="5029200"/>
            <a:ext cx="4572000" cy="749808"/>
          </a:xfrm>
          <a:prstGeom prst="roundRect">
            <a:avLst>
              <a:gd name="adj" fmla="val 14634"/>
            </a:avLst>
          </a:prstGeom>
          <a:solidFill>
            <a:srgbClr val="FFF0E5"/>
          </a:solidFill>
          <a:ln w="10160">
            <a:solidFill>
              <a:srgbClr val="F2D1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52303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541F"/>
                </a:solidFill>
              </a:rPr>
              <a:t>真实性边界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920240" y="520293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C5B37"/>
                </a:solidFill>
              </a:rPr>
              <a:t>模拟排名不写成真实预测；目标指标不写成已取得结果；未获得企业数据授权不做暗示。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623560" y="1234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4F7F9"/>
          </a:solidFill>
          <a:ln w="12700">
            <a:solidFill>
              <a:srgbClr val="E4F7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7989"/>
                </a:solidFill>
              </a:rPr>
              <a:t>REF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99632" y="12252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83A"/>
                </a:solidFill>
              </a:rPr>
              <a:t>核心公开资料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641848" y="1709928"/>
            <a:ext cx="118872" cy="118872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166420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83A"/>
                </a:solidFill>
              </a:rPr>
              <a:t>赛事官网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8613648" y="16642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F7587"/>
                </a:solidFill>
              </a:rPr>
              <a:t>activity.feishu.cn/future-talent#challenge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5641848" y="2231136"/>
            <a:ext cx="118872" cy="118872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0448" y="218541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83A"/>
                </a:solidFill>
              </a:rPr>
              <a:t>文化和旅游部 2025 年统计公报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8613648" y="218541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F7587"/>
                </a:solidFill>
              </a:rPr>
              <a:t>zwgk.mct.gov.cn/.../t20260602_966073.html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5641848" y="2752344"/>
            <a:ext cx="118872" cy="118872"/>
          </a:xfrm>
          <a:prstGeom prst="ellipse">
            <a:avLst/>
          </a:prstGeom>
          <a:solidFill>
            <a:srgbClr val="23D5E8"/>
          </a:solidFill>
          <a:ln w="12700">
            <a:solidFill>
              <a:srgbClr val="23D5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270662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83A"/>
                </a:solidFill>
              </a:rPr>
              <a:t>文化和旅游部 2025 国内居民出游数据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8613648" y="270662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F7587"/>
                </a:solidFill>
              </a:rPr>
              <a:t>zwgk.mct.gov.cn/.../t20260126_964367.html</a:t>
            </a:r>
            <a:endParaRPr lang="en-US" sz="770" dirty="0"/>
          </a:p>
        </p:txBody>
      </p:sp>
      <p:sp>
        <p:nvSpPr>
          <p:cNvPr id="42" name="Shape 40"/>
          <p:cNvSpPr/>
          <p:nvPr/>
        </p:nvSpPr>
        <p:spPr>
          <a:xfrm>
            <a:off x="5641848" y="3273552"/>
            <a:ext cx="118872" cy="118872"/>
          </a:xfrm>
          <a:prstGeom prst="ellipse">
            <a:avLst/>
          </a:prstGeom>
          <a:solidFill>
            <a:srgbClr val="8FA4B3"/>
          </a:solidFill>
          <a:ln w="12700">
            <a:solidFill>
              <a:srgbClr val="8FA4B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0448" y="322783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83A"/>
                </a:solidFill>
              </a:rPr>
              <a:t>高德 POI 2.0 / 天气 / 行政区 / 路径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8613648" y="32278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F7587"/>
                </a:solidFill>
              </a:rPr>
              <a:t>lbs.amap.com/api/webservice/guide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5641848" y="3794760"/>
            <a:ext cx="118872" cy="118872"/>
          </a:xfrm>
          <a:prstGeom prst="ellipse">
            <a:avLst/>
          </a:prstGeom>
          <a:solidFill>
            <a:srgbClr val="8FA4B3"/>
          </a:solidFill>
          <a:ln w="12700">
            <a:solidFill>
              <a:srgbClr val="8FA4B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0448" y="37490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83A"/>
                </a:solidFill>
              </a:rPr>
              <a:t>国家统计局中国统计年鉴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8613648" y="374904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F7587"/>
                </a:solidFill>
              </a:rPr>
              <a:t>stats.gov.cn/sj/ndsj/</a:t>
            </a:r>
            <a:endParaRPr lang="en-US" sz="770" dirty="0"/>
          </a:p>
        </p:txBody>
      </p:sp>
      <p:sp>
        <p:nvSpPr>
          <p:cNvPr id="48" name="Shape 46"/>
          <p:cNvSpPr/>
          <p:nvPr/>
        </p:nvSpPr>
        <p:spPr>
          <a:xfrm>
            <a:off x="5641848" y="4315968"/>
            <a:ext cx="118872" cy="118872"/>
          </a:xfrm>
          <a:prstGeom prst="ellipse">
            <a:avLst/>
          </a:prstGeom>
          <a:solidFill>
            <a:srgbClr val="8FA4B3"/>
          </a:solidFill>
          <a:ln w="12700">
            <a:solidFill>
              <a:srgbClr val="8FA4B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0448" y="427024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83A"/>
                </a:solidFill>
              </a:rPr>
              <a:t>民政部行政区划代码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8613648" y="427024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F7587"/>
                </a:solidFill>
              </a:rPr>
              <a:t>mca.gov.cn/n156/n186/index.html</a:t>
            </a:r>
            <a:endParaRPr lang="en-US" sz="770" dirty="0"/>
          </a:p>
        </p:txBody>
      </p:sp>
      <p:sp>
        <p:nvSpPr>
          <p:cNvPr id="51" name="Shape 49"/>
          <p:cNvSpPr/>
          <p:nvPr/>
        </p:nvSpPr>
        <p:spPr>
          <a:xfrm>
            <a:off x="5641848" y="4837176"/>
            <a:ext cx="118872" cy="118872"/>
          </a:xfrm>
          <a:prstGeom prst="ellipse">
            <a:avLst/>
          </a:prstGeom>
          <a:solidFill>
            <a:srgbClr val="8FA4B3"/>
          </a:solidFill>
          <a:ln w="12700">
            <a:solidFill>
              <a:srgbClr val="8FA4B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0448" y="479145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83A"/>
                </a:solidFill>
              </a:rPr>
              <a:t>ChinaTravel Benchmark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8613648" y="479145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F7587"/>
                </a:solidFill>
              </a:rPr>
              <a:t>arxiv.org/abs/2412.13682</a:t>
            </a:r>
            <a:endParaRPr lang="en-US" sz="770" dirty="0"/>
          </a:p>
        </p:txBody>
      </p:sp>
      <p:sp>
        <p:nvSpPr>
          <p:cNvPr id="54" name="Shape 52"/>
          <p:cNvSpPr/>
          <p:nvPr/>
        </p:nvSpPr>
        <p:spPr>
          <a:xfrm>
            <a:off x="5623560" y="5440680"/>
            <a:ext cx="5925312" cy="338328"/>
          </a:xfrm>
          <a:prstGeom prst="roundRect">
            <a:avLst>
              <a:gd name="adj" fmla="val 32432"/>
            </a:avLst>
          </a:prstGeom>
          <a:solidFill>
            <a:srgbClr val="F2F6F9"/>
          </a:solidFill>
          <a:ln w="10160">
            <a:solidFill>
              <a:srgbClr val="DDE7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0448" y="5541264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7587"/>
                </a:solidFill>
              </a:rPr>
              <a:t>生产使用前逐项核对数据服务条款、调用额度、版权与个人信息合规要求。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D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88352" y="73152"/>
            <a:ext cx="4736592" cy="4736592"/>
          </a:xfrm>
          <a:prstGeom prst="ellipse">
            <a:avLst/>
          </a:prstGeom>
          <a:solidFill>
            <a:srgbClr val="0B304A"/>
          </a:solidFill>
          <a:ln w="12700">
            <a:solidFill>
              <a:srgbClr val="0B3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2F8FC"/>
                </a:solidFill>
              </a:rPr>
              <a:t>提前识别 · 可信解释 · 立即行动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755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D5E8"/>
                </a:solidFill>
              </a:rPr>
              <a:t>CityPulse 热城先知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2487168"/>
            <a:ext cx="67208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8DAE5"/>
                </a:solidFill>
              </a:rPr>
              <a:t>我们不是在猜下一座城市，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C8DAE5"/>
                </a:solidFill>
              </a:rPr>
              <a:t>而是在它火之前，帮去哪儿先准备好供给、内容和用户体验。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4279392"/>
            <a:ext cx="2084832" cy="960120"/>
          </a:xfrm>
          <a:prstGeom prst="roundRect">
            <a:avLst>
              <a:gd name="adj" fmla="val 11429"/>
            </a:avLst>
          </a:prstGeom>
          <a:solidFill>
            <a:srgbClr val="0E2638"/>
          </a:solidFill>
          <a:ln w="10160">
            <a:solidFill>
              <a:srgbClr val="2447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805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D5E8"/>
                </a:solidFill>
              </a:rPr>
              <a:t>7-14 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19472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1A9BB"/>
                </a:solidFill>
              </a:rPr>
              <a:t>目标提前窗口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017520" y="4279392"/>
            <a:ext cx="2084832" cy="960120"/>
          </a:xfrm>
          <a:prstGeom prst="roundRect">
            <a:avLst>
              <a:gd name="adj" fmla="val 11429"/>
            </a:avLst>
          </a:prstGeom>
          <a:solidFill>
            <a:srgbClr val="0E2638"/>
          </a:solidFill>
          <a:ln w="10160">
            <a:solidFill>
              <a:srgbClr val="2447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44805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B54"/>
                </a:solidFill>
              </a:rPr>
              <a:t>多源证据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54680" y="4919472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1A9BB"/>
                </a:solidFill>
              </a:rPr>
              <a:t>拒绝单一热搜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349240" y="4279392"/>
            <a:ext cx="2084832" cy="960120"/>
          </a:xfrm>
          <a:prstGeom prst="roundRect">
            <a:avLst>
              <a:gd name="adj" fmla="val 11429"/>
            </a:avLst>
          </a:prstGeom>
          <a:solidFill>
            <a:srgbClr val="0E2638"/>
          </a:solidFill>
          <a:ln w="10160">
            <a:solidFill>
              <a:srgbClr val="2447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44805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D5E8"/>
                </a:solidFill>
              </a:rPr>
              <a:t>经营闭环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4919472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1A9BB"/>
                </a:solidFill>
              </a:rPr>
              <a:t>从排序直达产品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275320" y="1188720"/>
            <a:ext cx="2971800" cy="4160520"/>
          </a:xfrm>
          <a:prstGeom prst="roundRect">
            <a:avLst>
              <a:gd name="adj" fmla="val 3692"/>
            </a:avLst>
          </a:prstGeom>
          <a:solidFill>
            <a:srgbClr val="0E2638"/>
          </a:solidFill>
          <a:ln w="10160">
            <a:solidFill>
              <a:srgbClr val="315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8FC"/>
                </a:solidFill>
              </a:rPr>
              <a:t>海选已准备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549640" y="2176272"/>
            <a:ext cx="164592" cy="164592"/>
          </a:xfrm>
          <a:prstGeom prst="ellipse">
            <a:avLst/>
          </a:prstGeom>
          <a:solidFill>
            <a:srgbClr val="FF9B54"/>
          </a:solidFill>
          <a:ln w="12700">
            <a:solidFill>
              <a:srgbClr val="FF9B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21488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方案 PDF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23960" y="23957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优先上传主附件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549640" y="2697480"/>
            <a:ext cx="164592" cy="164592"/>
          </a:xfrm>
          <a:prstGeom prst="ellipse">
            <a:avLst/>
          </a:prstGeom>
          <a:solidFill>
            <a:srgbClr val="51D6A5"/>
          </a:solidFill>
          <a:ln w="12700">
            <a:solidFill>
              <a:srgbClr val="51D6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26700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可编辑 PPTX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823960" y="291693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可作为补充或链接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549640" y="3218688"/>
            <a:ext cx="164592" cy="164592"/>
          </a:xfrm>
          <a:prstGeom prst="ellipse">
            <a:avLst/>
          </a:prstGeom>
          <a:solidFill>
            <a:srgbClr val="51D6A5"/>
          </a:solidFill>
          <a:ln w="12700">
            <a:solidFill>
              <a:srgbClr val="51D6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23960" y="31912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数据与回测 XLSX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823960" y="343814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可作为补充或链接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549640" y="3739896"/>
            <a:ext cx="164592" cy="164592"/>
          </a:xfrm>
          <a:prstGeom prst="ellipse">
            <a:avLst/>
          </a:prstGeom>
          <a:solidFill>
            <a:srgbClr val="51D6A5"/>
          </a:solidFill>
          <a:ln w="12700">
            <a:solidFill>
              <a:srgbClr val="51D6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37124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GitHub 仓库模板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823960" y="3959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可作为补充或链接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549640" y="4261104"/>
            <a:ext cx="164592" cy="164592"/>
          </a:xfrm>
          <a:prstGeom prst="ellipse">
            <a:avLst/>
          </a:prstGeom>
          <a:solidFill>
            <a:srgbClr val="51D6A5"/>
          </a:solidFill>
          <a:ln w="12700">
            <a:solidFill>
              <a:srgbClr val="51D6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23960" y="42336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F8FC"/>
                </a:solidFill>
              </a:rPr>
              <a:t>静态交互原型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823960" y="44805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可作为补充或链接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595360" y="4809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D5E8"/>
                </a:solidFill>
              </a:rPr>
              <a:t>云上码术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95360" y="51206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1A9BB"/>
                </a:solidFill>
              </a:rPr>
              <a:t>2026 AI先锋未来人才大赛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云上码术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CityPulse 热城先知</dc:title>
  <dc:subject>CityPulse 热城先知 - 2026 AI先锋未来人才大赛补充材料</dc:subject>
  <dc:creator>云上码术</dc:creator>
  <cp:lastModifiedBy>云上码术</cp:lastModifiedBy>
  <cp:revision>1</cp:revision>
  <dcterms:created xsi:type="dcterms:W3CDTF">2026-07-16T03:34:33Z</dcterms:created>
  <dcterms:modified xsi:type="dcterms:W3CDTF">2026-07-16T03:34:33Z</dcterms:modified>
</cp:coreProperties>
</file>